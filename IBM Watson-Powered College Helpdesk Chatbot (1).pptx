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70" r:id="rId15"/>
  </p:sldIdLst>
  <p:sldSz cx="12192000" cy="6858000" type="screen16x9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7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104877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en-US"/>
          </a:p>
        </p:txBody>
      </p:sp>
      <p:sp>
        <p:nvSpPr>
          <p:cNvPr id="104877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77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7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57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59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4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5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5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1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42.png"/><Relationship Id="rId12" Type="http://schemas.openxmlformats.org/officeDocument/2006/relationships/image" Target="../media/image41.png"/><Relationship Id="rId11" Type="http://schemas.openxmlformats.org/officeDocument/2006/relationships/image" Target="../media/image40.png"/><Relationship Id="rId10" Type="http://schemas.openxmlformats.org/officeDocument/2006/relationships/image" Target="../media/image39.png"/><Relationship Id="rId1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68.png"/><Relationship Id="rId22" Type="http://schemas.openxmlformats.org/officeDocument/2006/relationships/image" Target="../media/image67.png"/><Relationship Id="rId21" Type="http://schemas.openxmlformats.org/officeDocument/2006/relationships/image" Target="../media/image66.png"/><Relationship Id="rId20" Type="http://schemas.openxmlformats.org/officeDocument/2006/relationships/image" Target="../media/image65.png"/><Relationship Id="rId2" Type="http://schemas.openxmlformats.org/officeDocument/2006/relationships/image" Target="../media/image47.png"/><Relationship Id="rId19" Type="http://schemas.openxmlformats.org/officeDocument/2006/relationships/image" Target="../media/image64.png"/><Relationship Id="rId18" Type="http://schemas.openxmlformats.org/officeDocument/2006/relationships/image" Target="../media/image63.png"/><Relationship Id="rId17" Type="http://schemas.openxmlformats.org/officeDocument/2006/relationships/image" Target="../media/image62.png"/><Relationship Id="rId16" Type="http://schemas.openxmlformats.org/officeDocument/2006/relationships/image" Target="../media/image61.png"/><Relationship Id="rId15" Type="http://schemas.openxmlformats.org/officeDocument/2006/relationships/image" Target="../media/image60.png"/><Relationship Id="rId14" Type="http://schemas.openxmlformats.org/officeDocument/2006/relationships/image" Target="../media/image59.png"/><Relationship Id="rId13" Type="http://schemas.openxmlformats.org/officeDocument/2006/relationships/image" Target="../media/image58.png"/><Relationship Id="rId12" Type="http://schemas.openxmlformats.org/officeDocument/2006/relationships/image" Target="../media/image57.png"/><Relationship Id="rId11" Type="http://schemas.openxmlformats.org/officeDocument/2006/relationships/image" Target="../media/image56.png"/><Relationship Id="rId10" Type="http://schemas.openxmlformats.org/officeDocument/2006/relationships/image" Target="../media/image55.png"/><Relationship Id="rId1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png"/><Relationship Id="rId8" Type="http://schemas.openxmlformats.org/officeDocument/2006/relationships/image" Target="../media/image76.png"/><Relationship Id="rId7" Type="http://schemas.openxmlformats.org/officeDocument/2006/relationships/image" Target="../media/image75.png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9.png"/><Relationship Id="rId10" Type="http://schemas.openxmlformats.org/officeDocument/2006/relationships/image" Target="../media/image78.png"/><Relationship Id="rId1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92.png"/><Relationship Id="rId12" Type="http://schemas.openxmlformats.org/officeDocument/2006/relationships/image" Target="../media/image91.png"/><Relationship Id="rId11" Type="http://schemas.openxmlformats.org/officeDocument/2006/relationships/image" Target="../media/image90.png"/><Relationship Id="rId10" Type="http://schemas.openxmlformats.org/officeDocument/2006/relationships/image" Target="../media/image89.png"/><Relationship Id="rId1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6.png"/><Relationship Id="rId1" Type="http://schemas.openxmlformats.org/officeDocument/2006/relationships/hyperlink" Target="https://gniot-sanskar.github.io/gniot-chatbot-dem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2F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576" name="Text 0"/>
          <p:cNvSpPr txBox="1"/>
          <p:nvPr/>
        </p:nvSpPr>
        <p:spPr>
          <a:xfrm>
            <a:off x="609600" y="5242620"/>
            <a:ext cx="7810500" cy="1158180"/>
          </a:xfrm>
          <a:prstGeom prst="rect">
            <a:avLst/>
          </a:prstGeom>
          <a:effectLst>
            <a:outerShdw blurRad="266700" dist="38100" dir="5400000" algn="bl" rotWithShape="0">
              <a:srgbClr val="000000">
                <a:alpha val="50000"/>
              </a:srgbClr>
            </a:outerShdw>
          </a:effectLst>
        </p:spPr>
        <p:txBody>
          <a:bodyPr wrap="none" lIns="0" tIns="0" rIns="0" bIns="0" rtlCol="0" anchor="t"/>
          <a:p>
            <a:pPr marL="0" indent="0" algn="l">
              <a:lnSpc>
                <a:spcPts val="4800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IBM Watson-Powered</a:t>
            </a:r>
            <a:endParaRPr lang="en-US" sz="4800" dirty="0"/>
          </a:p>
          <a:p>
            <a:pPr marL="0" indent="0" algn="l">
              <a:lnSpc>
                <a:spcPts val="4800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College Helpdesk Chatbot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2F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Text 0"/>
          <p:cNvSpPr txBox="1"/>
          <p:nvPr/>
        </p:nvSpPr>
        <p:spPr>
          <a:xfrm>
            <a:off x="685800" y="533400"/>
            <a:ext cx="8572500" cy="112008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4410"/>
              </a:lnSpc>
              <a:buNone/>
            </a:pPr>
            <a:r>
              <a:rPr lang="en-US" sz="4200" b="1" kern="0" spc="-84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Manual helpdesk can't keep up with repetitive student queries</a:t>
            </a:r>
            <a:endParaRPr lang="en-US" sz="4200" dirty="0"/>
          </a:p>
        </p:txBody>
      </p:sp>
      <p:pic>
        <p:nvPicPr>
          <p:cNvPr id="209715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96380"/>
            <a:ext cx="5143500" cy="2068860"/>
          </a:xfrm>
          <a:prstGeom prst="rect">
            <a:avLst/>
          </a:prstGeom>
        </p:spPr>
      </p:pic>
      <p:sp>
        <p:nvSpPr>
          <p:cNvPr id="1048581" name="Shape 1"/>
          <p:cNvSpPr/>
          <p:nvPr/>
        </p:nvSpPr>
        <p:spPr>
          <a:xfrm>
            <a:off x="923925" y="221932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37AFBE">
              <a:alpha val="20000"/>
            </a:srgbClr>
          </a:solidFill>
        </p:spPr>
      </p:sp>
      <p:sp>
        <p:nvSpPr>
          <p:cNvPr id="1048582" name="Text 2"/>
          <p:cNvSpPr txBox="1"/>
          <p:nvPr/>
        </p:nvSpPr>
        <p:spPr>
          <a:xfrm>
            <a:off x="1114425" y="2409825"/>
            <a:ext cx="0" cy="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583" name="Text 3"/>
          <p:cNvSpPr txBox="1"/>
          <p:nvPr/>
        </p:nvSpPr>
        <p:spPr>
          <a:xfrm>
            <a:off x="1457325" y="2215455"/>
            <a:ext cx="4133850" cy="20568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Repeated queries drain staff time</a:t>
            </a:r>
            <a:endParaRPr lang="en-US" sz="1350" dirty="0"/>
          </a:p>
        </p:txBody>
      </p:sp>
      <p:sp>
        <p:nvSpPr>
          <p:cNvPr id="1048584" name="Text 4"/>
          <p:cNvSpPr txBox="1"/>
          <p:nvPr/>
        </p:nvSpPr>
        <p:spPr>
          <a:xfrm>
            <a:off x="1457325" y="2487811"/>
            <a:ext cx="4133850" cy="41910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690"/>
              </a:lnSpc>
              <a:buNone/>
            </a:pPr>
            <a:r>
              <a:rPr lang="en-US" sz="1125" dirty="0">
                <a:solidFill>
                  <a:srgbClr val="DCE3F0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Admission, fees, timetable, exams, placements — same questions asked hundreds of times daily.</a:t>
            </a:r>
            <a:endParaRPr lang="en-US" sz="1125" dirty="0"/>
          </a:p>
        </p:txBody>
      </p:sp>
      <p:pic>
        <p:nvPicPr>
          <p:cNvPr id="209715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996380"/>
            <a:ext cx="5143500" cy="2068860"/>
          </a:xfrm>
          <a:prstGeom prst="rect">
            <a:avLst/>
          </a:prstGeom>
        </p:spPr>
      </p:pic>
      <p:sp>
        <p:nvSpPr>
          <p:cNvPr id="1048585" name="Shape 5"/>
          <p:cNvSpPr/>
          <p:nvPr/>
        </p:nvSpPr>
        <p:spPr>
          <a:xfrm>
            <a:off x="6257925" y="221932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37AFBE">
              <a:alpha val="20000"/>
            </a:srgbClr>
          </a:solidFill>
        </p:spPr>
      </p:sp>
      <p:sp>
        <p:nvSpPr>
          <p:cNvPr id="1048586" name="Text 6"/>
          <p:cNvSpPr txBox="1"/>
          <p:nvPr/>
        </p:nvSpPr>
        <p:spPr>
          <a:xfrm>
            <a:off x="6448425" y="2409825"/>
            <a:ext cx="0" cy="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587" name="Text 7"/>
          <p:cNvSpPr txBox="1"/>
          <p:nvPr/>
        </p:nvSpPr>
        <p:spPr>
          <a:xfrm>
            <a:off x="6791325" y="2215455"/>
            <a:ext cx="4133850" cy="20568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After-hours vacuum</a:t>
            </a:r>
            <a:endParaRPr lang="en-US" sz="1350" dirty="0"/>
          </a:p>
        </p:txBody>
      </p:sp>
      <p:sp>
        <p:nvSpPr>
          <p:cNvPr id="1048588" name="Text 8"/>
          <p:cNvSpPr txBox="1"/>
          <p:nvPr/>
        </p:nvSpPr>
        <p:spPr>
          <a:xfrm>
            <a:off x="6791325" y="2487811"/>
            <a:ext cx="4133850" cy="41910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690"/>
              </a:lnSpc>
              <a:buNone/>
            </a:pPr>
            <a:r>
              <a:rPr lang="en-US" sz="1125" dirty="0">
                <a:solidFill>
                  <a:srgbClr val="DCE3F0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Helpdesk works 10am–4pm. Students need answers at night, weekends, during form deadlines.</a:t>
            </a:r>
            <a:endParaRPr lang="en-US" sz="1125" dirty="0"/>
          </a:p>
        </p:txBody>
      </p:sp>
      <p:pic>
        <p:nvPicPr>
          <p:cNvPr id="2097155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255740"/>
            <a:ext cx="5143500" cy="2068860"/>
          </a:xfrm>
          <a:prstGeom prst="rect">
            <a:avLst/>
          </a:prstGeom>
        </p:spPr>
      </p:pic>
      <p:sp>
        <p:nvSpPr>
          <p:cNvPr id="1048589" name="Shape 9"/>
          <p:cNvSpPr/>
          <p:nvPr/>
        </p:nvSpPr>
        <p:spPr>
          <a:xfrm>
            <a:off x="923925" y="447675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37AFBE">
              <a:alpha val="20000"/>
            </a:srgbClr>
          </a:solidFill>
        </p:spPr>
      </p:sp>
      <p:sp>
        <p:nvSpPr>
          <p:cNvPr id="1048590" name="Text 10"/>
          <p:cNvSpPr txBox="1"/>
          <p:nvPr/>
        </p:nvSpPr>
        <p:spPr>
          <a:xfrm>
            <a:off x="1114425" y="4667250"/>
            <a:ext cx="0" cy="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591" name="Text 11"/>
          <p:cNvSpPr txBox="1"/>
          <p:nvPr/>
        </p:nvSpPr>
        <p:spPr>
          <a:xfrm>
            <a:off x="1457325" y="4474815"/>
            <a:ext cx="4133850" cy="20568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Slow response = poor experience</a:t>
            </a:r>
            <a:endParaRPr lang="en-US" sz="1350" dirty="0"/>
          </a:p>
        </p:txBody>
      </p:sp>
      <p:sp>
        <p:nvSpPr>
          <p:cNvPr id="1048592" name="Text 12"/>
          <p:cNvSpPr txBox="1"/>
          <p:nvPr/>
        </p:nvSpPr>
        <p:spPr>
          <a:xfrm>
            <a:off x="1457325" y="4747171"/>
            <a:ext cx="4133850" cy="41910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690"/>
              </a:lnSpc>
              <a:buNone/>
            </a:pPr>
            <a:r>
              <a:rPr lang="en-US" sz="1125" dirty="0">
                <a:solidFill>
                  <a:srgbClr val="DCE3F0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Queues, delayed emails, phone not reachable — leads to frustration and misinformation.</a:t>
            </a:r>
            <a:endParaRPr lang="en-US" sz="1125" dirty="0"/>
          </a:p>
        </p:txBody>
      </p:sp>
      <p:pic>
        <p:nvPicPr>
          <p:cNvPr id="209715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4255740"/>
            <a:ext cx="5143500" cy="2068860"/>
          </a:xfrm>
          <a:prstGeom prst="rect">
            <a:avLst/>
          </a:prstGeom>
        </p:spPr>
      </p:pic>
      <p:sp>
        <p:nvSpPr>
          <p:cNvPr id="1048593" name="Shape 13"/>
          <p:cNvSpPr/>
          <p:nvPr/>
        </p:nvSpPr>
        <p:spPr>
          <a:xfrm>
            <a:off x="6257925" y="447675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37AFBE">
              <a:alpha val="20000"/>
            </a:srgbClr>
          </a:solidFill>
        </p:spPr>
      </p:sp>
      <p:sp>
        <p:nvSpPr>
          <p:cNvPr id="1048594" name="Text 14"/>
          <p:cNvSpPr txBox="1"/>
          <p:nvPr/>
        </p:nvSpPr>
        <p:spPr>
          <a:xfrm>
            <a:off x="6448425" y="4667250"/>
            <a:ext cx="0" cy="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595" name="Text 15"/>
          <p:cNvSpPr txBox="1"/>
          <p:nvPr/>
        </p:nvSpPr>
        <p:spPr>
          <a:xfrm>
            <a:off x="6791325" y="4474815"/>
            <a:ext cx="4133850" cy="20568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Staff burden &amp; errors</a:t>
            </a:r>
            <a:endParaRPr lang="en-US" sz="1350" dirty="0"/>
          </a:p>
        </p:txBody>
      </p:sp>
      <p:sp>
        <p:nvSpPr>
          <p:cNvPr id="1048596" name="Text 16"/>
          <p:cNvSpPr txBox="1"/>
          <p:nvPr/>
        </p:nvSpPr>
        <p:spPr>
          <a:xfrm>
            <a:off x="6791325" y="4747171"/>
            <a:ext cx="4133850" cy="41910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690"/>
              </a:lnSpc>
              <a:buNone/>
            </a:pPr>
            <a:r>
              <a:rPr lang="en-US" sz="1125" dirty="0">
                <a:solidFill>
                  <a:srgbClr val="DCE3F0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copy-paste answers increase mistakes and leave no analytics on what students actually need.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2F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ext 0"/>
          <p:cNvSpPr txBox="1"/>
          <p:nvPr/>
        </p:nvSpPr>
        <p:spPr>
          <a:xfrm>
            <a:off x="609600" y="1883271"/>
            <a:ext cx="5825430" cy="93345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3750"/>
              </a:lnSpc>
              <a:spcAft>
                <a:spcPts val="1500"/>
              </a:spcAft>
              <a:buNone/>
            </a:pPr>
            <a:r>
              <a:rPr lang="en-US" sz="3750" b="1" kern="0" spc="-75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Build a 24x7 AI assistant that answers instantly</a:t>
            </a:r>
            <a:endParaRPr lang="en-US" sz="3750" dirty="0"/>
          </a:p>
        </p:txBody>
      </p:sp>
      <p:sp>
        <p:nvSpPr>
          <p:cNvPr id="1048601" name="Text 1"/>
          <p:cNvSpPr txBox="1"/>
          <p:nvPr/>
        </p:nvSpPr>
        <p:spPr>
          <a:xfrm>
            <a:off x="609600" y="3009900"/>
            <a:ext cx="5829300" cy="466725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850"/>
              </a:lnSpc>
              <a:buNone/>
            </a:pPr>
            <a:r>
              <a:rPr lang="en-US" sz="1275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instant answers</a:t>
            </a:r>
            <a:r>
              <a:rPr lang="en-US" sz="12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common queries — admission, fees, exam, placement, hostel.</a:t>
            </a:r>
            <a:endParaRPr lang="en-US" sz="1275" dirty="0"/>
          </a:p>
        </p:txBody>
      </p:sp>
      <p:pic>
        <p:nvPicPr>
          <p:cNvPr id="209715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026271"/>
            <a:ext cx="266700" cy="266700"/>
          </a:xfrm>
          <a:prstGeom prst="rect">
            <a:avLst/>
          </a:prstGeom>
        </p:spPr>
      </p:pic>
      <p:sp>
        <p:nvSpPr>
          <p:cNvPr id="1048602" name="Text 2"/>
          <p:cNvSpPr txBox="1"/>
          <p:nvPr/>
        </p:nvSpPr>
        <p:spPr>
          <a:xfrm>
            <a:off x="609600" y="3028950"/>
            <a:ext cx="266700" cy="26670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603" name="Text 3"/>
          <p:cNvSpPr txBox="1"/>
          <p:nvPr/>
        </p:nvSpPr>
        <p:spPr>
          <a:xfrm>
            <a:off x="742950" y="3162300"/>
            <a:ext cx="0" cy="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604" name="Text 4"/>
          <p:cNvSpPr txBox="1"/>
          <p:nvPr/>
        </p:nvSpPr>
        <p:spPr>
          <a:xfrm>
            <a:off x="609600" y="3629025"/>
            <a:ext cx="5829300" cy="466725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850"/>
              </a:lnSpc>
              <a:buNone/>
            </a:pPr>
            <a:r>
              <a:rPr lang="en-US" sz="1275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manual workload</a:t>
            </a:r>
            <a:r>
              <a:rPr lang="en-US" sz="12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automating 80% repetitive questions for staff.</a:t>
            </a:r>
            <a:endParaRPr lang="en-US" sz="1275" dirty="0"/>
          </a:p>
        </p:txBody>
      </p:sp>
      <p:pic>
        <p:nvPicPr>
          <p:cNvPr id="209715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648075"/>
            <a:ext cx="266700" cy="266700"/>
          </a:xfrm>
          <a:prstGeom prst="rect">
            <a:avLst/>
          </a:prstGeom>
        </p:spPr>
      </p:pic>
      <p:sp>
        <p:nvSpPr>
          <p:cNvPr id="1048605" name="Text 5"/>
          <p:cNvSpPr txBox="1"/>
          <p:nvPr/>
        </p:nvSpPr>
        <p:spPr>
          <a:xfrm>
            <a:off x="609600" y="3648075"/>
            <a:ext cx="266700" cy="26670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606" name="Text 6"/>
          <p:cNvSpPr txBox="1"/>
          <p:nvPr/>
        </p:nvSpPr>
        <p:spPr>
          <a:xfrm>
            <a:off x="742950" y="3781425"/>
            <a:ext cx="0" cy="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607" name="Text 7"/>
          <p:cNvSpPr txBox="1"/>
          <p:nvPr/>
        </p:nvSpPr>
        <p:spPr>
          <a:xfrm>
            <a:off x="609600" y="4248150"/>
            <a:ext cx="5829300" cy="2857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850"/>
              </a:lnSpc>
              <a:buNone/>
            </a:pPr>
            <a:r>
              <a:rPr lang="en-US" sz="1275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on IBM Cloud</a:t>
            </a:r>
            <a:r>
              <a:rPr lang="en-US" sz="12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embed on college website with chat widget.</a:t>
            </a:r>
            <a:endParaRPr lang="en-US" sz="1275" dirty="0"/>
          </a:p>
        </p:txBody>
      </p:sp>
      <p:pic>
        <p:nvPicPr>
          <p:cNvPr id="2097159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269879"/>
            <a:ext cx="266700" cy="266700"/>
          </a:xfrm>
          <a:prstGeom prst="rect">
            <a:avLst/>
          </a:prstGeom>
        </p:spPr>
      </p:pic>
      <p:sp>
        <p:nvSpPr>
          <p:cNvPr id="1048608" name="Text 8"/>
          <p:cNvSpPr txBox="1"/>
          <p:nvPr/>
        </p:nvSpPr>
        <p:spPr>
          <a:xfrm>
            <a:off x="609600" y="4267200"/>
            <a:ext cx="266700" cy="26670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609" name="Text 9"/>
          <p:cNvSpPr txBox="1"/>
          <p:nvPr/>
        </p:nvSpPr>
        <p:spPr>
          <a:xfrm>
            <a:off x="742950" y="4400550"/>
            <a:ext cx="0" cy="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610" name="Text 10"/>
          <p:cNvSpPr txBox="1"/>
          <p:nvPr/>
        </p:nvSpPr>
        <p:spPr>
          <a:xfrm>
            <a:off x="609600" y="4686300"/>
            <a:ext cx="5829300" cy="2857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850"/>
              </a:lnSpc>
              <a:buNone/>
            </a:pPr>
            <a:r>
              <a:rPr lang="en-US" sz="1275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student experience</a:t>
            </a:r>
            <a:r>
              <a:rPr lang="en-US" sz="12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analytics on real queries and gaps.</a:t>
            </a:r>
            <a:endParaRPr lang="en-US" sz="1275" dirty="0"/>
          </a:p>
        </p:txBody>
      </p:sp>
      <p:pic>
        <p:nvPicPr>
          <p:cNvPr id="2097160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708029"/>
            <a:ext cx="266700" cy="266700"/>
          </a:xfrm>
          <a:prstGeom prst="rect">
            <a:avLst/>
          </a:prstGeom>
        </p:spPr>
      </p:pic>
      <p:sp>
        <p:nvSpPr>
          <p:cNvPr id="1048611" name="Text 11"/>
          <p:cNvSpPr txBox="1"/>
          <p:nvPr/>
        </p:nvSpPr>
        <p:spPr>
          <a:xfrm>
            <a:off x="609600" y="4705350"/>
            <a:ext cx="266700" cy="26670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612" name="Text 12"/>
          <p:cNvSpPr txBox="1"/>
          <p:nvPr/>
        </p:nvSpPr>
        <p:spPr>
          <a:xfrm>
            <a:off x="742950" y="4838700"/>
            <a:ext cx="0" cy="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pic>
        <p:nvPicPr>
          <p:cNvPr id="2097161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530" y="190500"/>
            <a:ext cx="5909221" cy="6477000"/>
          </a:xfrm>
          <a:prstGeom prst="rect">
            <a:avLst/>
          </a:prstGeom>
        </p:spPr>
      </p:pic>
      <p:sp>
        <p:nvSpPr>
          <p:cNvPr id="1048613" name="Shape 13"/>
          <p:cNvSpPr/>
          <p:nvPr/>
        </p:nvSpPr>
        <p:spPr>
          <a:xfrm>
            <a:off x="7096125" y="122872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36B0BC"/>
          </a:solidFill>
        </p:spPr>
      </p:sp>
      <p:sp>
        <p:nvSpPr>
          <p:cNvPr id="1048614" name="Text 14"/>
          <p:cNvSpPr txBox="1"/>
          <p:nvPr/>
        </p:nvSpPr>
        <p:spPr>
          <a:xfrm>
            <a:off x="7267575" y="1400175"/>
            <a:ext cx="0" cy="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615" name="Text 15"/>
          <p:cNvSpPr txBox="1"/>
          <p:nvPr/>
        </p:nvSpPr>
        <p:spPr>
          <a:xfrm>
            <a:off x="7530405" y="1321594"/>
            <a:ext cx="1401366" cy="18573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690"/>
              </a:lnSpc>
              <a:buNone/>
            </a:pPr>
            <a:r>
              <a:rPr lang="en-US" sz="1125" b="1" dirty="0">
                <a:solidFill>
                  <a:srgbClr val="DDE3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College Helpdesk Bot</a:t>
            </a:r>
            <a:endParaRPr lang="en-US" sz="1125" dirty="0"/>
          </a:p>
        </p:txBody>
      </p:sp>
      <p:pic>
        <p:nvPicPr>
          <p:cNvPr id="209716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192" y="1264444"/>
            <a:ext cx="960834" cy="271463"/>
          </a:xfrm>
          <a:prstGeom prst="rect">
            <a:avLst/>
          </a:prstGeom>
        </p:spPr>
      </p:pic>
      <p:sp>
        <p:nvSpPr>
          <p:cNvPr id="1048616" name="Text 16"/>
          <p:cNvSpPr txBox="1"/>
          <p:nvPr/>
        </p:nvSpPr>
        <p:spPr>
          <a:xfrm>
            <a:off x="10440442" y="1331119"/>
            <a:ext cx="770334" cy="14763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240"/>
              </a:lnSpc>
              <a:buNone/>
            </a:pPr>
            <a:r>
              <a:rPr lang="en-US" sz="825" kern="0" spc="99" dirty="0">
                <a:solidFill>
                  <a:srgbClr val="36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ON IBM</a:t>
            </a:r>
            <a:endParaRPr lang="en-US" sz="825" dirty="0"/>
          </a:p>
        </p:txBody>
      </p:sp>
      <p:pic>
        <p:nvPicPr>
          <p:cNvPr id="209716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812" y="1781175"/>
            <a:ext cx="1668214" cy="414933"/>
          </a:xfrm>
          <a:prstGeom prst="rect">
            <a:avLst/>
          </a:prstGeom>
        </p:spPr>
      </p:pic>
      <p:sp>
        <p:nvSpPr>
          <p:cNvPr id="1048617" name="Text 17"/>
          <p:cNvSpPr txBox="1"/>
          <p:nvPr/>
        </p:nvSpPr>
        <p:spPr>
          <a:xfrm>
            <a:off x="9790212" y="1905000"/>
            <a:ext cx="1363414" cy="17680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70"/>
              </a:lnSpc>
              <a:buNone/>
            </a:pPr>
            <a:r>
              <a:rPr lang="en-US" sz="1015" b="1" dirty="0">
                <a:solidFill>
                  <a:srgbClr val="1A11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 ka fees kitna hai?</a:t>
            </a:r>
            <a:endParaRPr lang="en-US" sz="1015" dirty="0"/>
          </a:p>
        </p:txBody>
      </p:sp>
      <p:pic>
        <p:nvPicPr>
          <p:cNvPr id="209716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255" y="2329458"/>
            <a:ext cx="3539430" cy="620316"/>
          </a:xfrm>
          <a:prstGeom prst="rect">
            <a:avLst/>
          </a:prstGeom>
        </p:spPr>
      </p:pic>
      <p:sp>
        <p:nvSpPr>
          <p:cNvPr id="1048618" name="Text 18"/>
          <p:cNvSpPr txBox="1"/>
          <p:nvPr/>
        </p:nvSpPr>
        <p:spPr>
          <a:xfrm>
            <a:off x="7254180" y="2462808"/>
            <a:ext cx="3215580" cy="363141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CSE fees is ₹89,000/year. Scholarship up to 30% based on merit. Want hostel details too?</a:t>
            </a:r>
            <a:endParaRPr lang="en-US" sz="1015" dirty="0"/>
          </a:p>
        </p:txBody>
      </p:sp>
      <p:pic>
        <p:nvPicPr>
          <p:cNvPr id="209716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179" y="3083123"/>
            <a:ext cx="1733848" cy="414933"/>
          </a:xfrm>
          <a:prstGeom prst="rect">
            <a:avLst/>
          </a:prstGeom>
        </p:spPr>
      </p:pic>
      <p:sp>
        <p:nvSpPr>
          <p:cNvPr id="1048619" name="Text 19"/>
          <p:cNvSpPr txBox="1"/>
          <p:nvPr/>
        </p:nvSpPr>
        <p:spPr>
          <a:xfrm>
            <a:off x="9724579" y="3206948"/>
            <a:ext cx="1429048" cy="17680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70"/>
              </a:lnSpc>
              <a:buNone/>
            </a:pPr>
            <a:r>
              <a:rPr lang="en-US" sz="1015" b="1" dirty="0">
                <a:solidFill>
                  <a:srgbClr val="1A11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Timetable for 5th sem?</a:t>
            </a:r>
            <a:endParaRPr lang="en-US" sz="1015" dirty="0"/>
          </a:p>
        </p:txBody>
      </p:sp>
      <p:pic>
        <p:nvPicPr>
          <p:cNvPr id="2097166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2255" y="3631406"/>
            <a:ext cx="3539430" cy="620316"/>
          </a:xfrm>
          <a:prstGeom prst="rect">
            <a:avLst/>
          </a:prstGeom>
        </p:spPr>
      </p:pic>
      <p:sp>
        <p:nvSpPr>
          <p:cNvPr id="1048620" name="Text 20"/>
          <p:cNvSpPr txBox="1"/>
          <p:nvPr/>
        </p:nvSpPr>
        <p:spPr>
          <a:xfrm>
            <a:off x="7254180" y="3764756"/>
            <a:ext cx="3215580" cy="363141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5th Sem CSE: Mon-Fri 9am-4pm — DM, CN, AI labs. PDF sent.</a:t>
            </a:r>
            <a:endParaRPr lang="en-US" sz="1015" dirty="0"/>
          </a:p>
        </p:txBody>
      </p:sp>
      <p:pic>
        <p:nvPicPr>
          <p:cNvPr id="2097167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2255" y="4972050"/>
            <a:ext cx="4213771" cy="657225"/>
          </a:xfrm>
          <a:prstGeom prst="rect">
            <a:avLst/>
          </a:prstGeom>
        </p:spPr>
      </p:pic>
      <p:sp>
        <p:nvSpPr>
          <p:cNvPr id="1048621" name="Text 21"/>
          <p:cNvSpPr txBox="1"/>
          <p:nvPr/>
        </p:nvSpPr>
        <p:spPr>
          <a:xfrm>
            <a:off x="7092255" y="5181600"/>
            <a:ext cx="1341090" cy="2857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&lt;2s</a:t>
            </a:r>
            <a:endParaRPr lang="en-US" sz="1650" dirty="0"/>
          </a:p>
        </p:txBody>
      </p:sp>
      <p:sp>
        <p:nvSpPr>
          <p:cNvPr id="1048622" name="Text 22"/>
          <p:cNvSpPr txBox="1"/>
          <p:nvPr/>
        </p:nvSpPr>
        <p:spPr>
          <a:xfrm>
            <a:off x="7092255" y="5495925"/>
            <a:ext cx="1341090" cy="1333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kern="0" spc="60" dirty="0">
                <a:solidFill>
                  <a:srgbClr val="DDE3F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RESPONSE</a:t>
            </a:r>
            <a:endParaRPr lang="en-US" sz="750" dirty="0"/>
          </a:p>
        </p:txBody>
      </p:sp>
      <p:sp>
        <p:nvSpPr>
          <p:cNvPr id="1048623" name="Text 23"/>
          <p:cNvSpPr txBox="1"/>
          <p:nvPr/>
        </p:nvSpPr>
        <p:spPr>
          <a:xfrm>
            <a:off x="8528596" y="5181600"/>
            <a:ext cx="1341090" cy="2857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24x7</a:t>
            </a:r>
            <a:endParaRPr lang="en-US" sz="1650" dirty="0"/>
          </a:p>
        </p:txBody>
      </p:sp>
      <p:sp>
        <p:nvSpPr>
          <p:cNvPr id="1048624" name="Text 24"/>
          <p:cNvSpPr txBox="1"/>
          <p:nvPr/>
        </p:nvSpPr>
        <p:spPr>
          <a:xfrm>
            <a:off x="8528596" y="5495925"/>
            <a:ext cx="1341090" cy="1333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kern="0" spc="60" dirty="0">
                <a:solidFill>
                  <a:srgbClr val="DDE3F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</a:t>
            </a:r>
            <a:endParaRPr lang="en-US" sz="750" dirty="0"/>
          </a:p>
        </p:txBody>
      </p:sp>
      <p:sp>
        <p:nvSpPr>
          <p:cNvPr id="1048625" name="Text 25"/>
          <p:cNvSpPr txBox="1"/>
          <p:nvPr/>
        </p:nvSpPr>
        <p:spPr>
          <a:xfrm>
            <a:off x="9964936" y="5181600"/>
            <a:ext cx="1341090" cy="2857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₹0</a:t>
            </a:r>
            <a:endParaRPr lang="en-US" sz="1650" dirty="0"/>
          </a:p>
        </p:txBody>
      </p:sp>
      <p:sp>
        <p:nvSpPr>
          <p:cNvPr id="1048626" name="Text 26"/>
          <p:cNvSpPr txBox="1"/>
          <p:nvPr/>
        </p:nvSpPr>
        <p:spPr>
          <a:xfrm>
            <a:off x="9964936" y="5495925"/>
            <a:ext cx="1341090" cy="1333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kern="0" spc="60" dirty="0">
                <a:solidFill>
                  <a:srgbClr val="DDE3F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 COST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2F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ext 0"/>
          <p:cNvSpPr txBox="1"/>
          <p:nvPr/>
        </p:nvSpPr>
        <p:spPr>
          <a:xfrm>
            <a:off x="609600" y="1550938"/>
            <a:ext cx="6858000" cy="970657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3900"/>
              </a:lnSpc>
              <a:buNone/>
            </a:pPr>
            <a:r>
              <a:rPr lang="en-US" sz="3900" b="1" kern="0" spc="-78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is IBM Watson Assistant?</a:t>
            </a:r>
            <a:endParaRPr lang="en-US" sz="3900" dirty="0"/>
          </a:p>
        </p:txBody>
      </p:sp>
      <p:sp>
        <p:nvSpPr>
          <p:cNvPr id="1048631" name="Text 1"/>
          <p:cNvSpPr txBox="1"/>
          <p:nvPr/>
        </p:nvSpPr>
        <p:spPr>
          <a:xfrm>
            <a:off x="609600" y="2540645"/>
            <a:ext cx="6858000" cy="466725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915"/>
              </a:lnSpc>
              <a:buNone/>
            </a:pPr>
            <a:r>
              <a:rPr lang="en-US" sz="1275" dirty="0">
                <a:solidFill>
                  <a:srgbClr val="58554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IBM's enterprise conversational AI — understands natural language without heavy coding. You train it like a brain, not program it like an app.</a:t>
            </a:r>
            <a:endParaRPr lang="en-US" sz="1275" dirty="0"/>
          </a:p>
        </p:txBody>
      </p:sp>
      <p:pic>
        <p:nvPicPr>
          <p:cNvPr id="209716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274070"/>
            <a:ext cx="2614613" cy="2032992"/>
          </a:xfrm>
          <a:prstGeom prst="rect">
            <a:avLst/>
          </a:prstGeom>
        </p:spPr>
      </p:pic>
      <p:pic>
        <p:nvPicPr>
          <p:cNvPr id="209716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493145"/>
            <a:ext cx="342900" cy="342900"/>
          </a:xfrm>
          <a:prstGeom prst="rect">
            <a:avLst/>
          </a:prstGeom>
        </p:spPr>
      </p:pic>
      <p:pic>
        <p:nvPicPr>
          <p:cNvPr id="209717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3588395"/>
            <a:ext cx="152400" cy="152400"/>
          </a:xfrm>
          <a:prstGeom prst="rect">
            <a:avLst/>
          </a:prstGeom>
        </p:spPr>
      </p:pic>
      <p:sp>
        <p:nvSpPr>
          <p:cNvPr id="1048632" name="Text 2"/>
          <p:cNvSpPr txBox="1"/>
          <p:nvPr/>
        </p:nvSpPr>
        <p:spPr>
          <a:xfrm>
            <a:off x="809625" y="3969395"/>
            <a:ext cx="2214563" cy="394097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550"/>
              </a:lnSpc>
              <a:buNone/>
            </a:pPr>
            <a:r>
              <a:rPr lang="en-US" sz="1350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Natural Language Understanding</a:t>
            </a:r>
            <a:endParaRPr lang="en-US" sz="1350" dirty="0"/>
          </a:p>
        </p:txBody>
      </p:sp>
      <p:sp>
        <p:nvSpPr>
          <p:cNvPr id="1048633" name="Text 3"/>
          <p:cNvSpPr txBox="1"/>
          <p:nvPr/>
        </p:nvSpPr>
        <p:spPr>
          <a:xfrm>
            <a:off x="809625" y="4515892"/>
            <a:ext cx="2214563" cy="572095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550"/>
              </a:lnSpc>
              <a:buNone/>
            </a:pPr>
            <a:r>
              <a:rPr lang="en-US" sz="1035" dirty="0">
                <a:solidFill>
                  <a:srgbClr val="58554E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Understands intent in Hinglish, typos, variations — “fees kitna hai”, “fee structure btao” → same intent.</a:t>
            </a:r>
            <a:endParaRPr lang="en-US" sz="1035" dirty="0"/>
          </a:p>
        </p:txBody>
      </p:sp>
      <p:pic>
        <p:nvPicPr>
          <p:cNvPr id="209717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63" y="3274070"/>
            <a:ext cx="2614613" cy="2032992"/>
          </a:xfrm>
          <a:prstGeom prst="rect">
            <a:avLst/>
          </a:prstGeom>
        </p:spPr>
      </p:pic>
      <p:pic>
        <p:nvPicPr>
          <p:cNvPr id="209717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688" y="3493145"/>
            <a:ext cx="342900" cy="342900"/>
          </a:xfrm>
          <a:prstGeom prst="rect">
            <a:avLst/>
          </a:prstGeom>
        </p:spPr>
      </p:pic>
      <p:pic>
        <p:nvPicPr>
          <p:cNvPr id="209717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937" y="3588395"/>
            <a:ext cx="152400" cy="152400"/>
          </a:xfrm>
          <a:prstGeom prst="rect">
            <a:avLst/>
          </a:prstGeom>
        </p:spPr>
      </p:pic>
      <p:sp>
        <p:nvSpPr>
          <p:cNvPr id="1048634" name="Text 4"/>
          <p:cNvSpPr txBox="1"/>
          <p:nvPr/>
        </p:nvSpPr>
        <p:spPr>
          <a:xfrm>
            <a:off x="3595688" y="3969395"/>
            <a:ext cx="2214563" cy="19704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550"/>
              </a:lnSpc>
              <a:buNone/>
            </a:pPr>
            <a:r>
              <a:rPr lang="en-US" sz="1350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Intents + Entities</a:t>
            </a:r>
            <a:endParaRPr lang="en-US" sz="1350" dirty="0"/>
          </a:p>
        </p:txBody>
      </p:sp>
      <p:sp>
        <p:nvSpPr>
          <p:cNvPr id="1048635" name="Text 5"/>
          <p:cNvSpPr txBox="1"/>
          <p:nvPr/>
        </p:nvSpPr>
        <p:spPr>
          <a:xfrm>
            <a:off x="3595688" y="4318843"/>
            <a:ext cx="2214563" cy="769144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550"/>
              </a:lnSpc>
              <a:buNone/>
            </a:pPr>
            <a:r>
              <a:rPr lang="en-US" sz="1035" dirty="0">
                <a:solidFill>
                  <a:srgbClr val="58554E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#fees_query detects goal, @department (CSE, ECE, ME) extracts context. Builds accurate answers.</a:t>
            </a:r>
            <a:endParaRPr lang="en-US" sz="1035" dirty="0"/>
          </a:p>
        </p:txBody>
      </p:sp>
      <p:pic>
        <p:nvPicPr>
          <p:cNvPr id="2097174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725" y="3274070"/>
            <a:ext cx="2614613" cy="2032992"/>
          </a:xfrm>
          <a:prstGeom prst="rect">
            <a:avLst/>
          </a:prstGeom>
        </p:spPr>
      </p:pic>
      <p:pic>
        <p:nvPicPr>
          <p:cNvPr id="2097175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3493145"/>
            <a:ext cx="342900" cy="342900"/>
          </a:xfrm>
          <a:prstGeom prst="rect">
            <a:avLst/>
          </a:prstGeom>
        </p:spPr>
      </p:pic>
      <p:pic>
        <p:nvPicPr>
          <p:cNvPr id="209717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3588395"/>
            <a:ext cx="171450" cy="152400"/>
          </a:xfrm>
          <a:prstGeom prst="rect">
            <a:avLst/>
          </a:prstGeom>
        </p:spPr>
      </p:pic>
      <p:sp>
        <p:nvSpPr>
          <p:cNvPr id="1048636" name="Text 6"/>
          <p:cNvSpPr txBox="1"/>
          <p:nvPr/>
        </p:nvSpPr>
        <p:spPr>
          <a:xfrm>
            <a:off x="6381750" y="3969395"/>
            <a:ext cx="2214563" cy="19704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550"/>
              </a:lnSpc>
              <a:buNone/>
            </a:pPr>
            <a:r>
              <a:rPr lang="en-US" sz="1350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Drag-and-drop dialog</a:t>
            </a:r>
            <a:endParaRPr lang="en-US" sz="1350" dirty="0"/>
          </a:p>
        </p:txBody>
      </p:sp>
      <p:sp>
        <p:nvSpPr>
          <p:cNvPr id="1048637" name="Text 7"/>
          <p:cNvSpPr txBox="1"/>
          <p:nvPr/>
        </p:nvSpPr>
        <p:spPr>
          <a:xfrm>
            <a:off x="6381750" y="4318843"/>
            <a:ext cx="2214563" cy="572095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550"/>
              </a:lnSpc>
              <a:buNone/>
            </a:pPr>
            <a:r>
              <a:rPr lang="en-US" sz="1035" dirty="0">
                <a:solidFill>
                  <a:srgbClr val="58554E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flow builder creates responses, buttons, and API calls — no Python needed for basic bot.</a:t>
            </a:r>
            <a:endParaRPr lang="en-US" sz="1035" dirty="0"/>
          </a:p>
        </p:txBody>
      </p:sp>
      <p:pic>
        <p:nvPicPr>
          <p:cNvPr id="209717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7788" y="3274070"/>
            <a:ext cx="2614613" cy="2032992"/>
          </a:xfrm>
          <a:prstGeom prst="rect">
            <a:avLst/>
          </a:prstGeom>
        </p:spPr>
      </p:pic>
      <p:pic>
        <p:nvPicPr>
          <p:cNvPr id="209717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7813" y="3493145"/>
            <a:ext cx="342900" cy="342900"/>
          </a:xfrm>
          <a:prstGeom prst="rect">
            <a:avLst/>
          </a:prstGeom>
        </p:spPr>
      </p:pic>
      <p:pic>
        <p:nvPicPr>
          <p:cNvPr id="2097179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4013" y="3588395"/>
            <a:ext cx="190500" cy="152400"/>
          </a:xfrm>
          <a:prstGeom prst="rect">
            <a:avLst/>
          </a:prstGeom>
        </p:spPr>
      </p:pic>
      <p:sp>
        <p:nvSpPr>
          <p:cNvPr id="1048638" name="Text 8"/>
          <p:cNvSpPr txBox="1"/>
          <p:nvPr/>
        </p:nvSpPr>
        <p:spPr>
          <a:xfrm>
            <a:off x="9167813" y="3969395"/>
            <a:ext cx="2214563" cy="19704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550"/>
              </a:lnSpc>
              <a:buNone/>
            </a:pPr>
            <a:r>
              <a:rPr lang="en-US" sz="1350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Built for IBM Cloud</a:t>
            </a:r>
            <a:endParaRPr lang="en-US" sz="1350" dirty="0"/>
          </a:p>
        </p:txBody>
      </p:sp>
      <p:sp>
        <p:nvSpPr>
          <p:cNvPr id="1048639" name="Text 9"/>
          <p:cNvSpPr txBox="1"/>
          <p:nvPr/>
        </p:nvSpPr>
        <p:spPr>
          <a:xfrm>
            <a:off x="9167813" y="4318843"/>
            <a:ext cx="2214563" cy="572095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550"/>
              </a:lnSpc>
              <a:buNone/>
            </a:pPr>
            <a:r>
              <a:rPr lang="en-US" sz="1035" dirty="0">
                <a:solidFill>
                  <a:srgbClr val="58554E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 plan free, embed script for website, API ready for WhatsApp, mobile app, Facebook.</a:t>
            </a:r>
            <a:endParaRPr lang="en-US" sz="103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2F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071271" cy="6858000"/>
          </a:xfrm>
          <a:prstGeom prst="rect">
            <a:avLst/>
          </a:prstGeom>
        </p:spPr>
      </p:pic>
      <p:pic>
        <p:nvPicPr>
          <p:cNvPr id="209718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209550"/>
            <a:ext cx="2203698" cy="257175"/>
          </a:xfrm>
          <a:prstGeom prst="rect">
            <a:avLst/>
          </a:prstGeom>
        </p:spPr>
      </p:pic>
      <p:sp>
        <p:nvSpPr>
          <p:cNvPr id="1048643" name="Text 0"/>
          <p:cNvSpPr txBox="1"/>
          <p:nvPr/>
        </p:nvSpPr>
        <p:spPr>
          <a:xfrm>
            <a:off x="304800" y="276225"/>
            <a:ext cx="2013198" cy="1333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125"/>
              </a:lnSpc>
              <a:buNone/>
            </a:pPr>
            <a:r>
              <a:rPr lang="en-US" sz="750" kern="0" spc="105" dirty="0">
                <a:solidFill>
                  <a:srgbClr val="DDE3F0"/>
                </a:solidFill>
                <a:highlight>
                  <a:srgbClr val="1A112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SYSTEM FLOW — &lt;2 SEC LATENCY</a:t>
            </a:r>
            <a:endParaRPr lang="en-US" sz="750" dirty="0"/>
          </a:p>
        </p:txBody>
      </p:sp>
      <p:pic>
        <p:nvPicPr>
          <p:cNvPr id="209718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8600"/>
            <a:ext cx="6614071" cy="6400800"/>
          </a:xfrm>
          <a:prstGeom prst="rect">
            <a:avLst/>
          </a:prstGeom>
        </p:spPr>
      </p:pic>
      <p:sp>
        <p:nvSpPr>
          <p:cNvPr id="1048644" name="Text 1"/>
          <p:cNvSpPr txBox="1"/>
          <p:nvPr/>
        </p:nvSpPr>
        <p:spPr>
          <a:xfrm>
            <a:off x="7490371" y="803821"/>
            <a:ext cx="4244429" cy="1261765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3450"/>
              </a:lnSpc>
              <a:buNone/>
            </a:pPr>
            <a:r>
              <a:rPr lang="en-US" sz="3450" b="1" kern="0" spc="-69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System architecture built on Watson cloud</a:t>
            </a:r>
            <a:endParaRPr lang="en-US" sz="3450" dirty="0"/>
          </a:p>
        </p:txBody>
      </p:sp>
      <p:pic>
        <p:nvPicPr>
          <p:cNvPr id="209718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371" y="2275136"/>
            <a:ext cx="4244429" cy="854273"/>
          </a:xfrm>
          <a:prstGeom prst="rect">
            <a:avLst/>
          </a:prstGeom>
        </p:spPr>
      </p:pic>
      <p:pic>
        <p:nvPicPr>
          <p:cNvPr id="209718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2296" y="2418011"/>
            <a:ext cx="342900" cy="342900"/>
          </a:xfrm>
          <a:prstGeom prst="rect">
            <a:avLst/>
          </a:prstGeom>
        </p:spPr>
      </p:pic>
      <p:sp>
        <p:nvSpPr>
          <p:cNvPr id="1048645" name="Text 2"/>
          <p:cNvSpPr txBox="1"/>
          <p:nvPr/>
        </p:nvSpPr>
        <p:spPr>
          <a:xfrm>
            <a:off x="7755285" y="2506117"/>
            <a:ext cx="230386" cy="2452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65"/>
              </a:lnSpc>
              <a:buNone/>
            </a:pPr>
            <a:r>
              <a:rPr lang="en-US" sz="975" b="1" dirty="0">
                <a:solidFill>
                  <a:srgbClr val="789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75" dirty="0"/>
          </a:p>
        </p:txBody>
      </p:sp>
      <p:sp>
        <p:nvSpPr>
          <p:cNvPr id="1048646" name="Text 3"/>
          <p:cNvSpPr txBox="1"/>
          <p:nvPr/>
        </p:nvSpPr>
        <p:spPr>
          <a:xfrm>
            <a:off x="8128546" y="2418011"/>
            <a:ext cx="3444329" cy="1714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kern="0" spc="-11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User → Website widget</a:t>
            </a:r>
            <a:endParaRPr lang="en-US" sz="1125" dirty="0"/>
          </a:p>
        </p:txBody>
      </p:sp>
      <p:sp>
        <p:nvSpPr>
          <p:cNvPr id="1048647" name="Text 4"/>
          <p:cNvSpPr txBox="1"/>
          <p:nvPr/>
        </p:nvSpPr>
        <p:spPr>
          <a:xfrm>
            <a:off x="8128546" y="2637086"/>
            <a:ext cx="3444329" cy="349448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types query in embedded chat. Widget sends text to IBM Cloud securely via API.</a:t>
            </a:r>
            <a:endParaRPr lang="en-US" sz="975" dirty="0"/>
          </a:p>
        </p:txBody>
      </p:sp>
      <p:pic>
        <p:nvPicPr>
          <p:cNvPr id="209718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371" y="3262759"/>
            <a:ext cx="4244429" cy="854273"/>
          </a:xfrm>
          <a:prstGeom prst="rect">
            <a:avLst/>
          </a:prstGeom>
        </p:spPr>
      </p:pic>
      <p:pic>
        <p:nvPicPr>
          <p:cNvPr id="209718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2296" y="3405634"/>
            <a:ext cx="342900" cy="342900"/>
          </a:xfrm>
          <a:prstGeom prst="rect">
            <a:avLst/>
          </a:prstGeom>
        </p:spPr>
      </p:pic>
      <p:sp>
        <p:nvSpPr>
          <p:cNvPr id="1048648" name="Text 5"/>
          <p:cNvSpPr txBox="1"/>
          <p:nvPr/>
        </p:nvSpPr>
        <p:spPr>
          <a:xfrm>
            <a:off x="7742932" y="3493740"/>
            <a:ext cx="242739" cy="2452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65"/>
              </a:lnSpc>
              <a:buNone/>
            </a:pPr>
            <a:r>
              <a:rPr lang="en-US" sz="975" b="1" dirty="0">
                <a:solidFill>
                  <a:srgbClr val="789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75" dirty="0"/>
          </a:p>
        </p:txBody>
      </p:sp>
      <p:sp>
        <p:nvSpPr>
          <p:cNvPr id="1048649" name="Text 6"/>
          <p:cNvSpPr txBox="1"/>
          <p:nvPr/>
        </p:nvSpPr>
        <p:spPr>
          <a:xfrm>
            <a:off x="8128546" y="3405634"/>
            <a:ext cx="3444329" cy="1714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kern="0" spc="-11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Watson NLU → Intents &amp; Entities</a:t>
            </a:r>
            <a:endParaRPr lang="en-US" sz="1125" dirty="0"/>
          </a:p>
        </p:txBody>
      </p:sp>
      <p:sp>
        <p:nvSpPr>
          <p:cNvPr id="1048650" name="Text 7"/>
          <p:cNvSpPr txBox="1"/>
          <p:nvPr/>
        </p:nvSpPr>
        <p:spPr>
          <a:xfrm>
            <a:off x="8128546" y="3624709"/>
            <a:ext cx="3444329" cy="349448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intent like #fees_query and entity @department = CSE using natural language understanding.</a:t>
            </a:r>
            <a:endParaRPr lang="en-US" sz="975" dirty="0"/>
          </a:p>
        </p:txBody>
      </p:sp>
      <p:pic>
        <p:nvPicPr>
          <p:cNvPr id="209718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371" y="4250382"/>
            <a:ext cx="4244429" cy="854273"/>
          </a:xfrm>
          <a:prstGeom prst="rect">
            <a:avLst/>
          </a:prstGeom>
        </p:spPr>
      </p:pic>
      <p:pic>
        <p:nvPicPr>
          <p:cNvPr id="209718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2296" y="4393257"/>
            <a:ext cx="342900" cy="342900"/>
          </a:xfrm>
          <a:prstGeom prst="rect">
            <a:avLst/>
          </a:prstGeom>
        </p:spPr>
      </p:pic>
      <p:sp>
        <p:nvSpPr>
          <p:cNvPr id="1048651" name="Text 8"/>
          <p:cNvSpPr txBox="1"/>
          <p:nvPr/>
        </p:nvSpPr>
        <p:spPr>
          <a:xfrm>
            <a:off x="7741890" y="4481364"/>
            <a:ext cx="243780" cy="2452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65"/>
              </a:lnSpc>
              <a:buNone/>
            </a:pPr>
            <a:r>
              <a:rPr lang="en-US" sz="975" b="1" dirty="0">
                <a:solidFill>
                  <a:srgbClr val="789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75" dirty="0"/>
          </a:p>
        </p:txBody>
      </p:sp>
      <p:sp>
        <p:nvSpPr>
          <p:cNvPr id="1048652" name="Text 9"/>
          <p:cNvSpPr txBox="1"/>
          <p:nvPr/>
        </p:nvSpPr>
        <p:spPr>
          <a:xfrm>
            <a:off x="8128546" y="4393257"/>
            <a:ext cx="3444329" cy="1714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kern="0" spc="-11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Dialog engine → Response</a:t>
            </a:r>
            <a:endParaRPr lang="en-US" sz="1125" dirty="0"/>
          </a:p>
        </p:txBody>
      </p:sp>
      <p:sp>
        <p:nvSpPr>
          <p:cNvPr id="1048653" name="Text 10"/>
          <p:cNvSpPr txBox="1"/>
          <p:nvPr/>
        </p:nvSpPr>
        <p:spPr>
          <a:xfrm>
            <a:off x="8128546" y="4612332"/>
            <a:ext cx="3444329" cy="349448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Dialog node matches condition, fetches answer from knowledge base or Cloudant.</a:t>
            </a:r>
            <a:endParaRPr lang="en-US" sz="975" dirty="0"/>
          </a:p>
        </p:txBody>
      </p:sp>
      <p:pic>
        <p:nvPicPr>
          <p:cNvPr id="209718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0371" y="5238006"/>
            <a:ext cx="4244429" cy="854273"/>
          </a:xfrm>
          <a:prstGeom prst="rect">
            <a:avLst/>
          </a:prstGeom>
        </p:spPr>
      </p:pic>
      <p:pic>
        <p:nvPicPr>
          <p:cNvPr id="209719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2296" y="5380881"/>
            <a:ext cx="342900" cy="342900"/>
          </a:xfrm>
          <a:prstGeom prst="rect">
            <a:avLst/>
          </a:prstGeom>
        </p:spPr>
      </p:pic>
      <p:sp>
        <p:nvSpPr>
          <p:cNvPr id="1048654" name="Text 11"/>
          <p:cNvSpPr txBox="1"/>
          <p:nvPr/>
        </p:nvSpPr>
        <p:spPr>
          <a:xfrm>
            <a:off x="7740104" y="5468987"/>
            <a:ext cx="245566" cy="2452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65"/>
              </a:lnSpc>
              <a:buNone/>
            </a:pPr>
            <a:r>
              <a:rPr lang="en-US" sz="975" b="1" dirty="0">
                <a:solidFill>
                  <a:srgbClr val="789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75" dirty="0"/>
          </a:p>
        </p:txBody>
      </p:sp>
      <p:sp>
        <p:nvSpPr>
          <p:cNvPr id="1048655" name="Text 12"/>
          <p:cNvSpPr txBox="1"/>
          <p:nvPr/>
        </p:nvSpPr>
        <p:spPr>
          <a:xfrm>
            <a:off x="8128546" y="5380881"/>
            <a:ext cx="3444329" cy="1714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kern="0" spc="-11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Instant reply to user</a:t>
            </a:r>
            <a:endParaRPr lang="en-US" sz="1125" dirty="0"/>
          </a:p>
        </p:txBody>
      </p:sp>
      <p:sp>
        <p:nvSpPr>
          <p:cNvPr id="1048656" name="Text 13"/>
          <p:cNvSpPr txBox="1"/>
          <p:nvPr/>
        </p:nvSpPr>
        <p:spPr>
          <a:xfrm>
            <a:off x="8128546" y="5599956"/>
            <a:ext cx="3444329" cy="349448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formatted answer in &lt;2 seconds, logs analytics for improvement.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2F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ext 0"/>
          <p:cNvSpPr txBox="1"/>
          <p:nvPr/>
        </p:nvSpPr>
        <p:spPr>
          <a:xfrm>
            <a:off x="609600" y="457200"/>
            <a:ext cx="8191500" cy="45720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bot covers the full student lifecycle</a:t>
            </a:r>
            <a:endParaRPr lang="en-US" sz="3600" dirty="0"/>
          </a:p>
        </p:txBody>
      </p:sp>
      <p:pic>
        <p:nvPicPr>
          <p:cNvPr id="209719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1352550"/>
            <a:ext cx="19050" cy="4533900"/>
          </a:xfrm>
          <a:prstGeom prst="rect">
            <a:avLst/>
          </a:prstGeom>
        </p:spPr>
      </p:pic>
      <p:pic>
        <p:nvPicPr>
          <p:cNvPr id="209719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143000"/>
            <a:ext cx="4962525" cy="949375"/>
          </a:xfrm>
          <a:prstGeom prst="rect">
            <a:avLst/>
          </a:prstGeom>
        </p:spPr>
      </p:pic>
      <p:pic>
        <p:nvPicPr>
          <p:cNvPr id="209719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615" y="1076325"/>
            <a:ext cx="1652885" cy="204788"/>
          </a:xfrm>
          <a:prstGeom prst="rect">
            <a:avLst/>
          </a:prstGeom>
        </p:spPr>
      </p:pic>
      <p:sp>
        <p:nvSpPr>
          <p:cNvPr id="1048661" name="Text 1"/>
          <p:cNvSpPr txBox="1"/>
          <p:nvPr/>
        </p:nvSpPr>
        <p:spPr>
          <a:xfrm>
            <a:off x="4719340" y="1123950"/>
            <a:ext cx="1481435" cy="119063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015"/>
              </a:lnSpc>
              <a:buNone/>
            </a:pPr>
            <a:r>
              <a:rPr lang="en-US" sz="675" kern="0" spc="95" dirty="0">
                <a:solidFill>
                  <a:srgbClr val="36B0BC"/>
                </a:solidFill>
                <a:highlight>
                  <a:srgbClr val="1A112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INTENT #ADMISSION_QUERY</a:t>
            </a:r>
            <a:endParaRPr lang="en-US" sz="675" dirty="0"/>
          </a:p>
        </p:txBody>
      </p:sp>
      <p:pic>
        <p:nvPicPr>
          <p:cNvPr id="209719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1323975"/>
            <a:ext cx="342900" cy="342900"/>
          </a:xfrm>
          <a:prstGeom prst="rect">
            <a:avLst/>
          </a:prstGeom>
        </p:spPr>
      </p:pic>
      <p:pic>
        <p:nvPicPr>
          <p:cNvPr id="209719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2366" y="1428750"/>
            <a:ext cx="150019" cy="133350"/>
          </a:xfrm>
          <a:prstGeom prst="rect">
            <a:avLst/>
          </a:prstGeom>
        </p:spPr>
      </p:pic>
      <p:sp>
        <p:nvSpPr>
          <p:cNvPr id="1048662" name="Text 2"/>
          <p:cNvSpPr txBox="1"/>
          <p:nvPr/>
        </p:nvSpPr>
        <p:spPr>
          <a:xfrm>
            <a:off x="2162175" y="1323975"/>
            <a:ext cx="4086225" cy="186184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65"/>
              </a:lnSpc>
              <a:spcAft>
                <a:spcPts val="375"/>
              </a:spcAft>
              <a:buNone/>
            </a:pPr>
            <a:r>
              <a:rPr lang="en-US" sz="1275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Admission &amp; eligibility</a:t>
            </a:r>
            <a:endParaRPr lang="en-US" sz="1275" dirty="0"/>
          </a:p>
        </p:txBody>
      </p:sp>
      <p:sp>
        <p:nvSpPr>
          <p:cNvPr id="1048663" name="Text 3"/>
          <p:cNvSpPr txBox="1"/>
          <p:nvPr/>
        </p:nvSpPr>
        <p:spPr>
          <a:xfrm>
            <a:off x="2162175" y="1567309"/>
            <a:ext cx="4086225" cy="363141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DE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Process, cut-off, documents, important dates and contact for queries.</a:t>
            </a:r>
            <a:endParaRPr lang="en-US" sz="1015" dirty="0"/>
          </a:p>
        </p:txBody>
      </p:sp>
      <p:pic>
        <p:nvPicPr>
          <p:cNvPr id="2097196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5" y="1143000"/>
            <a:ext cx="4962525" cy="949375"/>
          </a:xfrm>
          <a:prstGeom prst="rect">
            <a:avLst/>
          </a:prstGeom>
        </p:spPr>
      </p:pic>
      <p:pic>
        <p:nvPicPr>
          <p:cNvPr id="209719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1323975"/>
            <a:ext cx="342900" cy="342900"/>
          </a:xfrm>
          <a:prstGeom prst="rect">
            <a:avLst/>
          </a:prstGeom>
        </p:spPr>
      </p:pic>
      <p:pic>
        <p:nvPicPr>
          <p:cNvPr id="209719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678" y="1428750"/>
            <a:ext cx="83344" cy="133350"/>
          </a:xfrm>
          <a:prstGeom prst="rect">
            <a:avLst/>
          </a:prstGeom>
        </p:spPr>
      </p:pic>
      <p:sp>
        <p:nvSpPr>
          <p:cNvPr id="1048664" name="Text 4"/>
          <p:cNvSpPr txBox="1"/>
          <p:nvPr/>
        </p:nvSpPr>
        <p:spPr>
          <a:xfrm>
            <a:off x="7296150" y="1323975"/>
            <a:ext cx="4068663" cy="186184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65"/>
              </a:lnSpc>
              <a:spcAft>
                <a:spcPts val="375"/>
              </a:spcAft>
              <a:buNone/>
            </a:pPr>
            <a:r>
              <a:rPr lang="en-US" sz="1275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Fees &amp; scholarship</a:t>
            </a:r>
            <a:endParaRPr lang="en-US" sz="1275" dirty="0"/>
          </a:p>
        </p:txBody>
      </p:sp>
      <p:sp>
        <p:nvSpPr>
          <p:cNvPr id="1048665" name="Text 5"/>
          <p:cNvSpPr txBox="1"/>
          <p:nvPr/>
        </p:nvSpPr>
        <p:spPr>
          <a:xfrm>
            <a:off x="7296150" y="1567309"/>
            <a:ext cx="4068663" cy="17680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DE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Branch-wise fees, payment link, scholarship criteria and deadlines.</a:t>
            </a:r>
            <a:endParaRPr lang="en-US" sz="1015" dirty="0"/>
          </a:p>
        </p:txBody>
      </p:sp>
      <p:pic>
        <p:nvPicPr>
          <p:cNvPr id="209719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2244775"/>
            <a:ext cx="4962525" cy="949375"/>
          </a:xfrm>
          <a:prstGeom prst="rect">
            <a:avLst/>
          </a:prstGeom>
        </p:spPr>
      </p:pic>
      <p:pic>
        <p:nvPicPr>
          <p:cNvPr id="209720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2425750"/>
            <a:ext cx="342900" cy="342900"/>
          </a:xfrm>
          <a:prstGeom prst="rect">
            <a:avLst/>
          </a:prstGeom>
        </p:spPr>
      </p:pic>
      <p:pic>
        <p:nvPicPr>
          <p:cNvPr id="2097201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034" y="2530525"/>
            <a:ext cx="116681" cy="133350"/>
          </a:xfrm>
          <a:prstGeom prst="rect">
            <a:avLst/>
          </a:prstGeom>
        </p:spPr>
      </p:pic>
      <p:sp>
        <p:nvSpPr>
          <p:cNvPr id="1048666" name="Text 6"/>
          <p:cNvSpPr txBox="1"/>
          <p:nvPr/>
        </p:nvSpPr>
        <p:spPr>
          <a:xfrm>
            <a:off x="2162175" y="2425750"/>
            <a:ext cx="4086225" cy="186184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65"/>
              </a:lnSpc>
              <a:spcAft>
                <a:spcPts val="375"/>
              </a:spcAft>
              <a:buNone/>
            </a:pPr>
            <a:r>
              <a:rPr lang="en-US" sz="1275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Academics</a:t>
            </a:r>
            <a:endParaRPr lang="en-US" sz="1275" dirty="0"/>
          </a:p>
        </p:txBody>
      </p:sp>
      <p:sp>
        <p:nvSpPr>
          <p:cNvPr id="1048667" name="Text 7"/>
          <p:cNvSpPr txBox="1"/>
          <p:nvPr/>
        </p:nvSpPr>
        <p:spPr>
          <a:xfrm>
            <a:off x="2162175" y="2669084"/>
            <a:ext cx="4086225" cy="363141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DE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Timetable, exam schedule, results, syllabus — by @semester and @department.</a:t>
            </a:r>
            <a:endParaRPr lang="en-US" sz="1015" dirty="0"/>
          </a:p>
        </p:txBody>
      </p:sp>
      <p:pic>
        <p:nvPicPr>
          <p:cNvPr id="2097202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875" y="2244775"/>
            <a:ext cx="4962525" cy="949375"/>
          </a:xfrm>
          <a:prstGeom prst="rect">
            <a:avLst/>
          </a:prstGeom>
        </p:spPr>
      </p:pic>
      <p:pic>
        <p:nvPicPr>
          <p:cNvPr id="2097203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2425750"/>
            <a:ext cx="342900" cy="342900"/>
          </a:xfrm>
          <a:prstGeom prst="rect">
            <a:avLst/>
          </a:prstGeom>
        </p:spPr>
      </p:pic>
      <p:sp>
        <p:nvSpPr>
          <p:cNvPr id="1048668" name="Text 8"/>
          <p:cNvSpPr txBox="1"/>
          <p:nvPr/>
        </p:nvSpPr>
        <p:spPr>
          <a:xfrm>
            <a:off x="6981825" y="2590800"/>
            <a:ext cx="0" cy="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669" name="Text 9"/>
          <p:cNvSpPr txBox="1"/>
          <p:nvPr/>
        </p:nvSpPr>
        <p:spPr>
          <a:xfrm>
            <a:off x="7296150" y="2425750"/>
            <a:ext cx="4007793" cy="186184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65"/>
              </a:lnSpc>
              <a:spcAft>
                <a:spcPts val="375"/>
              </a:spcAft>
              <a:buNone/>
            </a:pPr>
            <a:r>
              <a:rPr lang="en-US" sz="1275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Campus info</a:t>
            </a:r>
            <a:endParaRPr lang="en-US" sz="1275" dirty="0"/>
          </a:p>
        </p:txBody>
      </p:sp>
      <p:sp>
        <p:nvSpPr>
          <p:cNvPr id="1048670" name="Text 10"/>
          <p:cNvSpPr txBox="1"/>
          <p:nvPr/>
        </p:nvSpPr>
        <p:spPr>
          <a:xfrm>
            <a:off x="7296150" y="2669084"/>
            <a:ext cx="4007793" cy="17680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DE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Departments, faculty, labs, library hours, hostel fees and facilities.</a:t>
            </a:r>
            <a:endParaRPr lang="en-US" sz="1015" dirty="0"/>
          </a:p>
        </p:txBody>
      </p:sp>
      <p:pic>
        <p:nvPicPr>
          <p:cNvPr id="2097204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5900" y="3346549"/>
            <a:ext cx="10096500" cy="763042"/>
          </a:xfrm>
          <a:prstGeom prst="rect">
            <a:avLst/>
          </a:prstGeom>
        </p:spPr>
      </p:pic>
      <p:pic>
        <p:nvPicPr>
          <p:cNvPr id="2097205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5925" y="3527524"/>
            <a:ext cx="342900" cy="342900"/>
          </a:xfrm>
          <a:prstGeom prst="rect">
            <a:avLst/>
          </a:prstGeom>
        </p:spPr>
      </p:pic>
      <p:pic>
        <p:nvPicPr>
          <p:cNvPr id="2097206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0700" y="3632299"/>
            <a:ext cx="133350" cy="133350"/>
          </a:xfrm>
          <a:prstGeom prst="rect">
            <a:avLst/>
          </a:prstGeom>
        </p:spPr>
      </p:pic>
      <p:sp>
        <p:nvSpPr>
          <p:cNvPr id="1048671" name="Text 11"/>
          <p:cNvSpPr txBox="1"/>
          <p:nvPr/>
        </p:nvSpPr>
        <p:spPr>
          <a:xfrm>
            <a:off x="2162175" y="3527524"/>
            <a:ext cx="7843986" cy="186184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65"/>
              </a:lnSpc>
              <a:spcAft>
                <a:spcPts val="375"/>
              </a:spcAft>
              <a:buNone/>
            </a:pPr>
            <a:r>
              <a:rPr lang="en-US" sz="1275" b="1" kern="0" spc="-13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Placement &amp; support — 24x7, Hinglish ready</a:t>
            </a:r>
            <a:endParaRPr lang="en-US" sz="1275" dirty="0"/>
          </a:p>
        </p:txBody>
      </p:sp>
      <p:sp>
        <p:nvSpPr>
          <p:cNvPr id="1048672" name="Text 12"/>
          <p:cNvSpPr txBox="1"/>
          <p:nvPr/>
        </p:nvSpPr>
        <p:spPr>
          <a:xfrm>
            <a:off x="2162175" y="3770858"/>
            <a:ext cx="7843986" cy="17680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DE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 stats, internship drives, company list. Bot works day-night, answers in English + Hindi mix like “CSE ka fees kitna hai?”</a:t>
            </a:r>
            <a:endParaRPr lang="en-US" sz="1015" dirty="0"/>
          </a:p>
        </p:txBody>
      </p:sp>
      <p:pic>
        <p:nvPicPr>
          <p:cNvPr id="2097207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075" y="1257300"/>
            <a:ext cx="133350" cy="133350"/>
          </a:xfrm>
          <a:prstGeom prst="rect">
            <a:avLst/>
          </a:prstGeom>
        </p:spPr>
      </p:pic>
      <p:pic>
        <p:nvPicPr>
          <p:cNvPr id="2097208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" y="2286000"/>
            <a:ext cx="133350" cy="133350"/>
          </a:xfrm>
          <a:prstGeom prst="rect">
            <a:avLst/>
          </a:prstGeom>
        </p:spPr>
      </p:pic>
      <p:pic>
        <p:nvPicPr>
          <p:cNvPr id="2097209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" y="3314700"/>
            <a:ext cx="133350" cy="133350"/>
          </a:xfrm>
          <a:prstGeom prst="rect">
            <a:avLst/>
          </a:prstGeom>
        </p:spPr>
      </p:pic>
      <p:pic>
        <p:nvPicPr>
          <p:cNvPr id="2097210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" y="4343400"/>
            <a:ext cx="133350" cy="133350"/>
          </a:xfrm>
          <a:prstGeom prst="rect">
            <a:avLst/>
          </a:prstGeom>
        </p:spPr>
      </p:pic>
      <p:pic>
        <p:nvPicPr>
          <p:cNvPr id="2097211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" y="5372100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2F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ext 0"/>
          <p:cNvSpPr txBox="1"/>
          <p:nvPr/>
        </p:nvSpPr>
        <p:spPr>
          <a:xfrm>
            <a:off x="609600" y="707380"/>
            <a:ext cx="4416475" cy="1316682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Implementation in 5 clear moves on IBM Cloud</a:t>
            </a:r>
            <a:endParaRPr lang="en-US" sz="3600" dirty="0"/>
          </a:p>
        </p:txBody>
      </p:sp>
      <p:sp>
        <p:nvSpPr>
          <p:cNvPr id="1048677" name="Text 1"/>
          <p:cNvSpPr txBox="1"/>
          <p:nvPr/>
        </p:nvSpPr>
        <p:spPr>
          <a:xfrm>
            <a:off x="609600" y="2195513"/>
            <a:ext cx="3619500" cy="66675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125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heavy coding. Everything built in Watson Assistant UI with drag-drop actions and preview testing.</a:t>
            </a:r>
            <a:endParaRPr lang="en-US" sz="1125" dirty="0"/>
          </a:p>
        </p:txBody>
      </p:sp>
      <p:pic>
        <p:nvPicPr>
          <p:cNvPr id="20972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3275" y="707380"/>
            <a:ext cx="6099125" cy="1141958"/>
          </a:xfrm>
          <a:prstGeom prst="rect">
            <a:avLst/>
          </a:prstGeom>
        </p:spPr>
      </p:pic>
      <p:sp>
        <p:nvSpPr>
          <p:cNvPr id="1048678" name="Text 2"/>
          <p:cNvSpPr txBox="1"/>
          <p:nvPr/>
        </p:nvSpPr>
        <p:spPr>
          <a:xfrm>
            <a:off x="5486400" y="704850"/>
            <a:ext cx="6096000" cy="1143000"/>
          </a:xfrm>
          <a:prstGeom prst="rect">
            <a:avLst/>
          </a:prstGeom>
        </p:spPr>
        <p:txBody>
          <a:bodyPr wrap="none" lIns="171450" tIns="152400" rIns="171450" bIns="152400" rtlCol="0" anchor="t"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6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50" dirty="0"/>
          </a:p>
          <a:p>
            <a:pPr marL="0" indent="0" algn="l">
              <a:lnSpc>
                <a:spcPts val="1530"/>
              </a:lnSpc>
              <a:spcAft>
                <a:spcPts val="300"/>
              </a:spcAft>
              <a:buNone/>
            </a:pPr>
            <a:r>
              <a:rPr lang="en-US" sz="1275" b="1" kern="0" spc="-13" dirty="0">
                <a:solidFill>
                  <a:srgbClr val="5855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Create IBM Cloud Lite account &amp; Watson Assistant service</a:t>
            </a:r>
            <a:endParaRPr lang="en-US" sz="135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DE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up free at cloud.ibm.com → Catalog → Watson Assistant → Create (Dallas region, Lite plan).</a:t>
            </a:r>
            <a:endParaRPr lang="en-US" sz="1350" dirty="0"/>
          </a:p>
          <a:p>
            <a:pPr marL="0" indent="0" algn="l">
              <a:lnSpc>
                <a:spcPts val="1125"/>
              </a:lnSpc>
              <a:spcBef>
                <a:spcPts val="450"/>
              </a:spcBef>
              <a:buNone/>
            </a:pPr>
            <a:r>
              <a:rPr lang="en-US" sz="750" kern="0" spc="75" dirty="0">
                <a:solidFill>
                  <a:srgbClr val="789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MINS SETUP</a:t>
            </a:r>
            <a:endParaRPr lang="en-US" sz="1350" dirty="0"/>
          </a:p>
        </p:txBody>
      </p:sp>
      <p:pic>
        <p:nvPicPr>
          <p:cNvPr id="20972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275" y="1982688"/>
            <a:ext cx="6099125" cy="941933"/>
          </a:xfrm>
          <a:prstGeom prst="rect">
            <a:avLst/>
          </a:prstGeom>
        </p:spPr>
      </p:pic>
      <p:sp>
        <p:nvSpPr>
          <p:cNvPr id="1048679" name="Text 3"/>
          <p:cNvSpPr txBox="1"/>
          <p:nvPr/>
        </p:nvSpPr>
        <p:spPr>
          <a:xfrm>
            <a:off x="5486400" y="1981200"/>
            <a:ext cx="6096000" cy="942975"/>
          </a:xfrm>
          <a:prstGeom prst="rect">
            <a:avLst/>
          </a:prstGeom>
        </p:spPr>
        <p:txBody>
          <a:bodyPr wrap="none" lIns="171450" tIns="152400" rIns="171450" bIns="152400" rtlCol="0" anchor="t"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6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50" dirty="0"/>
          </a:p>
          <a:p>
            <a:pPr marL="0" indent="0" algn="l">
              <a:lnSpc>
                <a:spcPts val="1530"/>
              </a:lnSpc>
              <a:spcAft>
                <a:spcPts val="300"/>
              </a:spcAft>
              <a:buNone/>
            </a:pPr>
            <a:r>
              <a:rPr lang="en-US" sz="1275" b="1" kern="0" spc="-13" dirty="0">
                <a:solidFill>
                  <a:srgbClr val="5855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Create Assistant + Add Actions</a:t>
            </a:r>
            <a:endParaRPr lang="en-US" sz="135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DE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Watson → New Assistant → Name: College Helpdesk Bot → Create custom actions for each query type.</a:t>
            </a:r>
            <a:endParaRPr lang="en-US" sz="1350" dirty="0"/>
          </a:p>
        </p:txBody>
      </p:sp>
      <p:pic>
        <p:nvPicPr>
          <p:cNvPr id="209721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275" y="3057971"/>
            <a:ext cx="6099125" cy="941933"/>
          </a:xfrm>
          <a:prstGeom prst="rect">
            <a:avLst/>
          </a:prstGeom>
        </p:spPr>
      </p:pic>
      <p:sp>
        <p:nvSpPr>
          <p:cNvPr id="1048680" name="Text 4"/>
          <p:cNvSpPr txBox="1"/>
          <p:nvPr/>
        </p:nvSpPr>
        <p:spPr>
          <a:xfrm>
            <a:off x="5486400" y="3057525"/>
            <a:ext cx="6096000" cy="942975"/>
          </a:xfrm>
          <a:prstGeom prst="rect">
            <a:avLst/>
          </a:prstGeom>
        </p:spPr>
        <p:txBody>
          <a:bodyPr wrap="none" lIns="171450" tIns="152400" rIns="171450" bIns="152400" rtlCol="0" anchor="t"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6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50" dirty="0"/>
          </a:p>
          <a:p>
            <a:pPr marL="0" indent="0" algn="l">
              <a:lnSpc>
                <a:spcPts val="1530"/>
              </a:lnSpc>
              <a:spcAft>
                <a:spcPts val="300"/>
              </a:spcAft>
              <a:buNone/>
            </a:pPr>
            <a:r>
              <a:rPr lang="en-US" sz="1275" b="1" kern="0" spc="-13" dirty="0">
                <a:solidFill>
                  <a:srgbClr val="5855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Define 30+ Intents, Entities, Dialog flow</a:t>
            </a:r>
            <a:endParaRPr lang="en-US" sz="135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DE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Ex: #fees_query, #timetable + @department {CSE, ECE}. Build branching dialog with responses.</a:t>
            </a:r>
            <a:endParaRPr lang="en-US" sz="1350" dirty="0"/>
          </a:p>
        </p:txBody>
      </p:sp>
      <p:pic>
        <p:nvPicPr>
          <p:cNvPr id="2097215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275" y="4133255"/>
            <a:ext cx="6099125" cy="941933"/>
          </a:xfrm>
          <a:prstGeom prst="rect">
            <a:avLst/>
          </a:prstGeom>
        </p:spPr>
      </p:pic>
      <p:sp>
        <p:nvSpPr>
          <p:cNvPr id="1048681" name="Text 5"/>
          <p:cNvSpPr txBox="1"/>
          <p:nvPr/>
        </p:nvSpPr>
        <p:spPr>
          <a:xfrm>
            <a:off x="5486400" y="4133850"/>
            <a:ext cx="6096000" cy="942975"/>
          </a:xfrm>
          <a:prstGeom prst="rect">
            <a:avLst/>
          </a:prstGeom>
        </p:spPr>
        <p:txBody>
          <a:bodyPr wrap="none" lIns="171450" tIns="152400" rIns="171450" bIns="152400" rtlCol="0" anchor="t"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6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50" dirty="0"/>
          </a:p>
          <a:p>
            <a:pPr marL="0" indent="0" algn="l">
              <a:lnSpc>
                <a:spcPts val="1530"/>
              </a:lnSpc>
              <a:spcAft>
                <a:spcPts val="300"/>
              </a:spcAft>
              <a:buNone/>
            </a:pPr>
            <a:r>
              <a:rPr lang="en-US" sz="1275" b="1" kern="0" spc="-13" dirty="0">
                <a:solidFill>
                  <a:srgbClr val="5855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Test in Preview panel</a:t>
            </a:r>
            <a:endParaRPr lang="en-US" sz="135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DE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"CSE ka fees kitna hai?" → Verify intent detection &amp; entity mapping, refine training phrases.</a:t>
            </a:r>
            <a:endParaRPr lang="en-US" sz="1350" dirty="0"/>
          </a:p>
        </p:txBody>
      </p:sp>
      <p:pic>
        <p:nvPicPr>
          <p:cNvPr id="20972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75" y="5208538"/>
            <a:ext cx="6099125" cy="941933"/>
          </a:xfrm>
          <a:prstGeom prst="rect">
            <a:avLst/>
          </a:prstGeom>
        </p:spPr>
      </p:pic>
      <p:sp>
        <p:nvSpPr>
          <p:cNvPr id="1048682" name="Text 6"/>
          <p:cNvSpPr txBox="1"/>
          <p:nvPr/>
        </p:nvSpPr>
        <p:spPr>
          <a:xfrm>
            <a:off x="5486400" y="5210175"/>
            <a:ext cx="6096000" cy="942975"/>
          </a:xfrm>
          <a:prstGeom prst="rect">
            <a:avLst/>
          </a:prstGeom>
        </p:spPr>
        <p:txBody>
          <a:bodyPr wrap="none" lIns="171450" tIns="152400" rIns="171450" bIns="152400" rtlCol="0" anchor="t"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6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50" dirty="0"/>
          </a:p>
          <a:p>
            <a:pPr marL="0" indent="0" algn="l">
              <a:lnSpc>
                <a:spcPts val="1530"/>
              </a:lnSpc>
              <a:spcAft>
                <a:spcPts val="300"/>
              </a:spcAft>
              <a:buNone/>
            </a:pPr>
            <a:r>
              <a:rPr lang="en-US" sz="1275" b="1" kern="0" spc="-13" dirty="0">
                <a:solidFill>
                  <a:srgbClr val="5855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Deploy via Web Chat embed &amp; monitor</a:t>
            </a:r>
            <a:endParaRPr lang="en-US" sz="135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DE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 → Webchat → Copy script → Paste in college website footer. Check Analytics dashboard.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2F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ext 0"/>
          <p:cNvSpPr txBox="1"/>
          <p:nvPr/>
        </p:nvSpPr>
        <p:spPr>
          <a:xfrm>
            <a:off x="609600" y="457200"/>
            <a:ext cx="10972800" cy="4381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3450"/>
              </a:lnSpc>
              <a:buNone/>
            </a:pPr>
            <a:r>
              <a:rPr lang="en-US" sz="3450" b="1" kern="0" spc="-69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Intents and entities trained for college language</a:t>
            </a:r>
            <a:endParaRPr lang="en-US" sz="3450" dirty="0"/>
          </a:p>
        </p:txBody>
      </p:sp>
      <p:pic>
        <p:nvPicPr>
          <p:cNvPr id="20972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104900"/>
            <a:ext cx="2095500" cy="860971"/>
          </a:xfrm>
          <a:prstGeom prst="rect">
            <a:avLst/>
          </a:prstGeom>
        </p:spPr>
      </p:pic>
      <p:sp>
        <p:nvSpPr>
          <p:cNvPr id="1048687" name="Text 1"/>
          <p:cNvSpPr txBox="1"/>
          <p:nvPr/>
        </p:nvSpPr>
        <p:spPr>
          <a:xfrm>
            <a:off x="609600" y="1257300"/>
            <a:ext cx="2095500" cy="47997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789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30+</a:t>
            </a:r>
            <a:endParaRPr lang="en-US" sz="4200" dirty="0"/>
          </a:p>
        </p:txBody>
      </p:sp>
      <p:sp>
        <p:nvSpPr>
          <p:cNvPr id="1048688" name="Text 2"/>
          <p:cNvSpPr txBox="1"/>
          <p:nvPr/>
        </p:nvSpPr>
        <p:spPr>
          <a:xfrm>
            <a:off x="609600" y="1803946"/>
            <a:ext cx="2095500" cy="161925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kern="0" spc="72" dirty="0">
                <a:solidFill>
                  <a:srgbClr val="DD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INTENTS DEFINED</a:t>
            </a:r>
            <a:endParaRPr lang="en-US" sz="900" dirty="0"/>
          </a:p>
        </p:txBody>
      </p:sp>
      <p:pic>
        <p:nvPicPr>
          <p:cNvPr id="209721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6550" y="1104900"/>
            <a:ext cx="2095500" cy="860971"/>
          </a:xfrm>
          <a:prstGeom prst="rect">
            <a:avLst/>
          </a:prstGeom>
        </p:spPr>
      </p:pic>
      <p:sp>
        <p:nvSpPr>
          <p:cNvPr id="1048689" name="Text 3"/>
          <p:cNvSpPr txBox="1"/>
          <p:nvPr/>
        </p:nvSpPr>
        <p:spPr>
          <a:xfrm>
            <a:off x="2876550" y="1257300"/>
            <a:ext cx="2095500" cy="47997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789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4200" dirty="0"/>
          </a:p>
        </p:txBody>
      </p:sp>
      <p:sp>
        <p:nvSpPr>
          <p:cNvPr id="1048690" name="Text 4"/>
          <p:cNvSpPr txBox="1"/>
          <p:nvPr/>
        </p:nvSpPr>
        <p:spPr>
          <a:xfrm>
            <a:off x="2876550" y="1803946"/>
            <a:ext cx="2095500" cy="161925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kern="0" spc="72" dirty="0">
                <a:solidFill>
                  <a:srgbClr val="DD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ENTITIES + SYNONYMS</a:t>
            </a:r>
            <a:endParaRPr lang="en-US" sz="900" dirty="0"/>
          </a:p>
        </p:txBody>
      </p:sp>
      <p:pic>
        <p:nvPicPr>
          <p:cNvPr id="2097219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1104900"/>
            <a:ext cx="2095500" cy="860971"/>
          </a:xfrm>
          <a:prstGeom prst="rect">
            <a:avLst/>
          </a:prstGeom>
        </p:spPr>
      </p:pic>
      <p:sp>
        <p:nvSpPr>
          <p:cNvPr id="1048691" name="Text 5"/>
          <p:cNvSpPr txBox="1"/>
          <p:nvPr/>
        </p:nvSpPr>
        <p:spPr>
          <a:xfrm>
            <a:off x="5143500" y="1257300"/>
            <a:ext cx="2095500" cy="47997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789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&lt;2s</a:t>
            </a:r>
            <a:endParaRPr lang="en-US" sz="4200" dirty="0"/>
          </a:p>
        </p:txBody>
      </p:sp>
      <p:sp>
        <p:nvSpPr>
          <p:cNvPr id="1048692" name="Text 6"/>
          <p:cNvSpPr txBox="1"/>
          <p:nvPr/>
        </p:nvSpPr>
        <p:spPr>
          <a:xfrm>
            <a:off x="5143500" y="1803946"/>
            <a:ext cx="2095500" cy="161925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kern="0" spc="72" dirty="0">
                <a:solidFill>
                  <a:srgbClr val="DDE3F0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NLU RESOLUTION</a:t>
            </a:r>
            <a:endParaRPr lang="en-US" sz="900" dirty="0"/>
          </a:p>
        </p:txBody>
      </p:sp>
      <p:sp>
        <p:nvSpPr>
          <p:cNvPr id="1048693" name="Text 7"/>
          <p:cNvSpPr txBox="1"/>
          <p:nvPr/>
        </p:nvSpPr>
        <p:spPr>
          <a:xfrm>
            <a:off x="7410450" y="1357313"/>
            <a:ext cx="4171950" cy="355997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r">
              <a:lnSpc>
                <a:spcPts val="1365"/>
              </a:lnSpc>
              <a:buNone/>
            </a:pPr>
            <a:r>
              <a:rPr lang="en-US" sz="975" dirty="0">
                <a:solidFill>
                  <a:srgbClr val="DDE3F0">
                    <a:alpha val="7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Example: "CSE ka fees kitna hai?"</a:t>
            </a:r>
            <a:endParaRPr lang="en-US" sz="975" dirty="0"/>
          </a:p>
          <a:p>
            <a:pPr marL="0" indent="0" algn="r">
              <a:lnSpc>
                <a:spcPts val="1365"/>
              </a:lnSpc>
              <a:buNone/>
            </a:pPr>
            <a:r>
              <a:rPr lang="en-US" sz="975" dirty="0">
                <a:solidFill>
                  <a:srgbClr val="DDE3F0">
                    <a:alpha val="7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maps to </a:t>
            </a:r>
            <a:r>
              <a:rPr lang="en-US" sz="975" dirty="0">
                <a:solidFill>
                  <a:srgbClr val="7898DC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#fees_query</a:t>
            </a:r>
            <a:r>
              <a:rPr lang="en-US" sz="975" dirty="0">
                <a:solidFill>
                  <a:srgbClr val="DDE3F0">
                    <a:alpha val="7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+ </a:t>
            </a:r>
            <a:r>
              <a:rPr lang="en-US" sz="975" dirty="0">
                <a:solidFill>
                  <a:srgbClr val="36B0BC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@department:CSE</a:t>
            </a:r>
            <a:endParaRPr lang="en-US" sz="975" dirty="0"/>
          </a:p>
        </p:txBody>
      </p:sp>
      <p:pic>
        <p:nvPicPr>
          <p:cNvPr id="2097220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75421"/>
            <a:ext cx="5919788" cy="4225379"/>
          </a:xfrm>
          <a:prstGeom prst="rect">
            <a:avLst/>
          </a:prstGeom>
        </p:spPr>
      </p:pic>
      <p:sp>
        <p:nvSpPr>
          <p:cNvPr id="1048694" name="Text 8"/>
          <p:cNvSpPr txBox="1"/>
          <p:nvPr/>
        </p:nvSpPr>
        <p:spPr>
          <a:xfrm>
            <a:off x="1074837" y="2375446"/>
            <a:ext cx="5235476" cy="18276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40"/>
              </a:lnSpc>
              <a:spcAft>
                <a:spcPts val="1050"/>
              </a:spcAft>
              <a:buNone/>
            </a:pPr>
            <a:r>
              <a:rPr lang="en-US" sz="1200" b="1" kern="0" spc="-12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Top intents</a:t>
            </a:r>
            <a:endParaRPr lang="en-US" sz="1200" dirty="0"/>
          </a:p>
        </p:txBody>
      </p:sp>
      <p:pic>
        <p:nvPicPr>
          <p:cNvPr id="20972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2390626"/>
            <a:ext cx="150912" cy="152400"/>
          </a:xfrm>
          <a:prstGeom prst="rect">
            <a:avLst/>
          </a:prstGeom>
        </p:spPr>
      </p:pic>
      <p:pic>
        <p:nvPicPr>
          <p:cNvPr id="20972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2691557"/>
            <a:ext cx="769888" cy="330994"/>
          </a:xfrm>
          <a:prstGeom prst="rect">
            <a:avLst/>
          </a:prstGeom>
        </p:spPr>
      </p:pic>
      <p:sp>
        <p:nvSpPr>
          <p:cNvPr id="1048695" name="Text 9"/>
          <p:cNvSpPr txBox="1"/>
          <p:nvPr/>
        </p:nvSpPr>
        <p:spPr>
          <a:xfrm>
            <a:off x="942975" y="2777282"/>
            <a:ext cx="541288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#greeting</a:t>
            </a:r>
            <a:endParaRPr lang="en-US" sz="940" dirty="0"/>
          </a:p>
        </p:txBody>
      </p:sp>
      <p:pic>
        <p:nvPicPr>
          <p:cNvPr id="20972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4763" y="2691557"/>
            <a:ext cx="1253877" cy="330994"/>
          </a:xfrm>
          <a:prstGeom prst="rect">
            <a:avLst/>
          </a:prstGeom>
        </p:spPr>
      </p:pic>
      <p:sp>
        <p:nvSpPr>
          <p:cNvPr id="1048696" name="Text 10"/>
          <p:cNvSpPr txBox="1"/>
          <p:nvPr/>
        </p:nvSpPr>
        <p:spPr>
          <a:xfrm>
            <a:off x="1789063" y="2777282"/>
            <a:ext cx="1025277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#admission_query</a:t>
            </a:r>
            <a:endParaRPr lang="en-US" sz="940" dirty="0"/>
          </a:p>
        </p:txBody>
      </p:sp>
      <p:pic>
        <p:nvPicPr>
          <p:cNvPr id="209722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4840" y="2691557"/>
            <a:ext cx="926902" cy="330994"/>
          </a:xfrm>
          <a:prstGeom prst="rect">
            <a:avLst/>
          </a:prstGeom>
        </p:spPr>
      </p:pic>
      <p:sp>
        <p:nvSpPr>
          <p:cNvPr id="1048697" name="Text 11"/>
          <p:cNvSpPr txBox="1"/>
          <p:nvPr/>
        </p:nvSpPr>
        <p:spPr>
          <a:xfrm>
            <a:off x="3119140" y="2777282"/>
            <a:ext cx="698302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#fees_query</a:t>
            </a:r>
            <a:endParaRPr lang="en-US" sz="940" dirty="0"/>
          </a:p>
        </p:txBody>
      </p:sp>
      <p:pic>
        <p:nvPicPr>
          <p:cNvPr id="20972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7941" y="2691557"/>
            <a:ext cx="952202" cy="330994"/>
          </a:xfrm>
          <a:prstGeom prst="rect">
            <a:avLst/>
          </a:prstGeom>
        </p:spPr>
      </p:pic>
      <p:sp>
        <p:nvSpPr>
          <p:cNvPr id="1048698" name="Text 12"/>
          <p:cNvSpPr txBox="1"/>
          <p:nvPr/>
        </p:nvSpPr>
        <p:spPr>
          <a:xfrm>
            <a:off x="4122241" y="2777282"/>
            <a:ext cx="723602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#scholarship</a:t>
            </a:r>
            <a:endParaRPr lang="en-US" sz="940" dirty="0"/>
          </a:p>
        </p:txBody>
      </p:sp>
      <p:pic>
        <p:nvPicPr>
          <p:cNvPr id="2097226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6344" y="2691557"/>
            <a:ext cx="823168" cy="330994"/>
          </a:xfrm>
          <a:prstGeom prst="rect">
            <a:avLst/>
          </a:prstGeom>
        </p:spPr>
      </p:pic>
      <p:sp>
        <p:nvSpPr>
          <p:cNvPr id="1048699" name="Text 13"/>
          <p:cNvSpPr txBox="1"/>
          <p:nvPr/>
        </p:nvSpPr>
        <p:spPr>
          <a:xfrm>
            <a:off x="5150644" y="2777282"/>
            <a:ext cx="594568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#timetable</a:t>
            </a:r>
            <a:endParaRPr lang="en-US" sz="940" dirty="0"/>
          </a:p>
        </p:txBody>
      </p:sp>
      <p:pic>
        <p:nvPicPr>
          <p:cNvPr id="2097227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675" y="3098750"/>
            <a:ext cx="971104" cy="330994"/>
          </a:xfrm>
          <a:prstGeom prst="rect">
            <a:avLst/>
          </a:prstGeom>
        </p:spPr>
      </p:pic>
      <p:sp>
        <p:nvSpPr>
          <p:cNvPr id="1048700" name="Text 14"/>
          <p:cNvSpPr txBox="1"/>
          <p:nvPr/>
        </p:nvSpPr>
        <p:spPr>
          <a:xfrm>
            <a:off x="942975" y="3184475"/>
            <a:ext cx="742504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#exam_dates</a:t>
            </a:r>
            <a:endParaRPr lang="en-US" sz="940" dirty="0"/>
          </a:p>
        </p:txBody>
      </p:sp>
      <p:pic>
        <p:nvPicPr>
          <p:cNvPr id="2097228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5979" y="3098750"/>
            <a:ext cx="680740" cy="330994"/>
          </a:xfrm>
          <a:prstGeom prst="rect">
            <a:avLst/>
          </a:prstGeom>
        </p:spPr>
      </p:pic>
      <p:sp>
        <p:nvSpPr>
          <p:cNvPr id="1048701" name="Text 15"/>
          <p:cNvSpPr txBox="1"/>
          <p:nvPr/>
        </p:nvSpPr>
        <p:spPr>
          <a:xfrm>
            <a:off x="1990279" y="3184475"/>
            <a:ext cx="452140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#results</a:t>
            </a:r>
            <a:endParaRPr lang="en-US" sz="940" dirty="0"/>
          </a:p>
        </p:txBody>
      </p:sp>
      <p:pic>
        <p:nvPicPr>
          <p:cNvPr id="2097229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2918" y="3098750"/>
            <a:ext cx="893118" cy="330994"/>
          </a:xfrm>
          <a:prstGeom prst="rect">
            <a:avLst/>
          </a:prstGeom>
        </p:spPr>
      </p:pic>
      <p:sp>
        <p:nvSpPr>
          <p:cNvPr id="1048702" name="Text 16"/>
          <p:cNvSpPr txBox="1"/>
          <p:nvPr/>
        </p:nvSpPr>
        <p:spPr>
          <a:xfrm>
            <a:off x="2747218" y="3184475"/>
            <a:ext cx="664518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#placement</a:t>
            </a:r>
            <a:endParaRPr lang="en-US" sz="940" dirty="0"/>
          </a:p>
        </p:txBody>
      </p:sp>
      <p:pic>
        <p:nvPicPr>
          <p:cNvPr id="2097230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2236" y="3098750"/>
            <a:ext cx="644723" cy="330994"/>
          </a:xfrm>
          <a:prstGeom prst="rect">
            <a:avLst/>
          </a:prstGeom>
        </p:spPr>
      </p:pic>
      <p:sp>
        <p:nvSpPr>
          <p:cNvPr id="1048703" name="Text 17"/>
          <p:cNvSpPr txBox="1"/>
          <p:nvPr/>
        </p:nvSpPr>
        <p:spPr>
          <a:xfrm>
            <a:off x="3716536" y="3184475"/>
            <a:ext cx="416123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#hostel</a:t>
            </a:r>
            <a:endParaRPr lang="en-US" sz="940" dirty="0"/>
          </a:p>
        </p:txBody>
      </p:sp>
      <p:pic>
        <p:nvPicPr>
          <p:cNvPr id="2097231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23159" y="3098750"/>
            <a:ext cx="659904" cy="330994"/>
          </a:xfrm>
          <a:prstGeom prst="rect">
            <a:avLst/>
          </a:prstGeom>
        </p:spPr>
      </p:pic>
      <p:sp>
        <p:nvSpPr>
          <p:cNvPr id="1048704" name="Text 18"/>
          <p:cNvSpPr txBox="1"/>
          <p:nvPr/>
        </p:nvSpPr>
        <p:spPr>
          <a:xfrm>
            <a:off x="4437459" y="3184475"/>
            <a:ext cx="431304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#library</a:t>
            </a:r>
            <a:endParaRPr lang="en-US" sz="940" dirty="0"/>
          </a:p>
        </p:txBody>
      </p:sp>
      <p:pic>
        <p:nvPicPr>
          <p:cNvPr id="2097232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9263" y="3098750"/>
            <a:ext cx="690265" cy="330994"/>
          </a:xfrm>
          <a:prstGeom prst="rect">
            <a:avLst/>
          </a:prstGeom>
        </p:spPr>
      </p:pic>
      <p:sp>
        <p:nvSpPr>
          <p:cNvPr id="1048705" name="Text 19"/>
          <p:cNvSpPr txBox="1"/>
          <p:nvPr/>
        </p:nvSpPr>
        <p:spPr>
          <a:xfrm>
            <a:off x="5173563" y="3184475"/>
            <a:ext cx="461665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#faculty</a:t>
            </a:r>
            <a:endParaRPr lang="en-US" sz="940" dirty="0"/>
          </a:p>
        </p:txBody>
      </p:sp>
      <p:pic>
        <p:nvPicPr>
          <p:cNvPr id="2097233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8675" y="3505944"/>
            <a:ext cx="797421" cy="330994"/>
          </a:xfrm>
          <a:prstGeom prst="rect">
            <a:avLst/>
          </a:prstGeom>
        </p:spPr>
      </p:pic>
      <p:sp>
        <p:nvSpPr>
          <p:cNvPr id="1048706" name="Text 20"/>
          <p:cNvSpPr txBox="1"/>
          <p:nvPr/>
        </p:nvSpPr>
        <p:spPr>
          <a:xfrm>
            <a:off x="942975" y="3591669"/>
            <a:ext cx="568821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7895D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#goodbye</a:t>
            </a:r>
            <a:endParaRPr lang="en-US" sz="940" dirty="0"/>
          </a:p>
        </p:txBody>
      </p:sp>
      <p:pic>
        <p:nvPicPr>
          <p:cNvPr id="2097234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8675" y="4008388"/>
            <a:ext cx="5481638" cy="909638"/>
          </a:xfrm>
          <a:prstGeom prst="rect">
            <a:avLst/>
          </a:prstGeom>
        </p:spPr>
      </p:pic>
      <p:sp>
        <p:nvSpPr>
          <p:cNvPr id="1048707" name="Text 21"/>
          <p:cNvSpPr txBox="1"/>
          <p:nvPr/>
        </p:nvSpPr>
        <p:spPr>
          <a:xfrm>
            <a:off x="990600" y="4160788"/>
            <a:ext cx="5157788" cy="1333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kern="0" spc="75" dirty="0">
                <a:solidFill>
                  <a:srgbClr val="DDE3F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UNDERSTANDING</a:t>
            </a:r>
            <a:endParaRPr lang="en-US" sz="750" dirty="0"/>
          </a:p>
        </p:txBody>
      </p:sp>
      <p:sp>
        <p:nvSpPr>
          <p:cNvPr id="1048708" name="Text 22"/>
          <p:cNvSpPr txBox="1"/>
          <p:nvPr/>
        </p:nvSpPr>
        <p:spPr>
          <a:xfrm>
            <a:off x="990600" y="4351288"/>
            <a:ext cx="5157788" cy="17383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520"/>
              </a:lnSpc>
              <a:buNone/>
            </a:pPr>
            <a:r>
              <a:rPr lang="en-US" sz="1015" b="1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</a:t>
            </a:r>
            <a:r>
              <a:rPr lang="en-US" sz="1015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"5th sem ka exam kab hai?"</a:t>
            </a:r>
            <a:endParaRPr lang="en-US" sz="1015" dirty="0"/>
          </a:p>
        </p:txBody>
      </p:sp>
      <p:sp>
        <p:nvSpPr>
          <p:cNvPr id="1048709" name="Text 23"/>
          <p:cNvSpPr txBox="1"/>
          <p:nvPr/>
        </p:nvSpPr>
        <p:spPr>
          <a:xfrm>
            <a:off x="990600" y="4601319"/>
            <a:ext cx="5157788" cy="17383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520"/>
              </a:lnSpc>
              <a:spcBef>
                <a:spcPts val="450"/>
              </a:spcBef>
              <a:buNone/>
            </a:pPr>
            <a:r>
              <a:rPr lang="en-US" sz="1015" b="1" dirty="0">
                <a:solidFill>
                  <a:srgbClr val="789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Intent:</a:t>
            </a:r>
            <a:r>
              <a:rPr lang="en-US" sz="1015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#exam_dates </a:t>
            </a:r>
            <a:r>
              <a:rPr lang="en-US" sz="1015" b="1" dirty="0">
                <a:solidFill>
                  <a:srgbClr val="36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Entity:</a:t>
            </a:r>
            <a:r>
              <a:rPr lang="en-US" sz="1015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@semester=5th</a:t>
            </a:r>
            <a:endParaRPr lang="en-US" sz="1015" dirty="0"/>
          </a:p>
        </p:txBody>
      </p:sp>
      <p:pic>
        <p:nvPicPr>
          <p:cNvPr id="2097235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38938" y="2175421"/>
            <a:ext cx="4843463" cy="4225379"/>
          </a:xfrm>
          <a:prstGeom prst="rect">
            <a:avLst/>
          </a:prstGeom>
        </p:spPr>
      </p:pic>
      <p:sp>
        <p:nvSpPr>
          <p:cNvPr id="1048710" name="Text 24"/>
          <p:cNvSpPr txBox="1"/>
          <p:nvPr/>
        </p:nvSpPr>
        <p:spPr>
          <a:xfrm>
            <a:off x="7204174" y="2375446"/>
            <a:ext cx="4159151" cy="18276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40"/>
              </a:lnSpc>
              <a:spcAft>
                <a:spcPts val="1050"/>
              </a:spcAft>
              <a:buNone/>
            </a:pPr>
            <a:r>
              <a:rPr lang="en-US" sz="1200" b="1" kern="0" spc="-12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Key entities &amp; values</a:t>
            </a:r>
            <a:endParaRPr lang="en-US" sz="1200" dirty="0"/>
          </a:p>
        </p:txBody>
      </p:sp>
      <p:pic>
        <p:nvPicPr>
          <p:cNvPr id="2097236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58013" y="2390626"/>
            <a:ext cx="150912" cy="152400"/>
          </a:xfrm>
          <a:prstGeom prst="rect">
            <a:avLst/>
          </a:prstGeom>
        </p:spPr>
      </p:pic>
      <p:pic>
        <p:nvPicPr>
          <p:cNvPr id="2097237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58013" y="2691557"/>
            <a:ext cx="2550914" cy="330994"/>
          </a:xfrm>
          <a:prstGeom prst="rect">
            <a:avLst/>
          </a:prstGeom>
        </p:spPr>
      </p:pic>
      <p:sp>
        <p:nvSpPr>
          <p:cNvPr id="1048711" name="Text 25"/>
          <p:cNvSpPr txBox="1"/>
          <p:nvPr/>
        </p:nvSpPr>
        <p:spPr>
          <a:xfrm>
            <a:off x="7072313" y="2777282"/>
            <a:ext cx="2322314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39B1B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@department: CSE, ECE, ME, Civil, AI/ML</a:t>
            </a:r>
            <a:endParaRPr lang="en-US" sz="940" dirty="0"/>
          </a:p>
        </p:txBody>
      </p:sp>
      <p:pic>
        <p:nvPicPr>
          <p:cNvPr id="2097238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85127" y="2691557"/>
            <a:ext cx="1441698" cy="330994"/>
          </a:xfrm>
          <a:prstGeom prst="rect">
            <a:avLst/>
          </a:prstGeom>
        </p:spPr>
      </p:pic>
      <p:sp>
        <p:nvSpPr>
          <p:cNvPr id="1048712" name="Text 26"/>
          <p:cNvSpPr txBox="1"/>
          <p:nvPr/>
        </p:nvSpPr>
        <p:spPr>
          <a:xfrm>
            <a:off x="9699427" y="2777282"/>
            <a:ext cx="1213098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39B1B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@semester: 1st to 8th</a:t>
            </a:r>
            <a:endParaRPr lang="en-US" sz="940" dirty="0"/>
          </a:p>
        </p:txBody>
      </p:sp>
      <p:pic>
        <p:nvPicPr>
          <p:cNvPr id="2097239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58013" y="3098750"/>
            <a:ext cx="1998315" cy="330994"/>
          </a:xfrm>
          <a:prstGeom prst="rect">
            <a:avLst/>
          </a:prstGeom>
        </p:spPr>
      </p:pic>
      <p:sp>
        <p:nvSpPr>
          <p:cNvPr id="1048713" name="Text 27"/>
          <p:cNvSpPr txBox="1"/>
          <p:nvPr/>
        </p:nvSpPr>
        <p:spPr>
          <a:xfrm>
            <a:off x="7072313" y="3184475"/>
            <a:ext cx="1769715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39B1B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@course: B.Tech, M.Tech, MBA</a:t>
            </a:r>
            <a:endParaRPr lang="en-US" sz="940" dirty="0"/>
          </a:p>
        </p:txBody>
      </p:sp>
      <p:pic>
        <p:nvPicPr>
          <p:cNvPr id="2097240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32528" y="3098750"/>
            <a:ext cx="2022574" cy="330994"/>
          </a:xfrm>
          <a:prstGeom prst="rect">
            <a:avLst/>
          </a:prstGeom>
        </p:spPr>
      </p:pic>
      <p:sp>
        <p:nvSpPr>
          <p:cNvPr id="1048714" name="Text 28"/>
          <p:cNvSpPr txBox="1"/>
          <p:nvPr/>
        </p:nvSpPr>
        <p:spPr>
          <a:xfrm>
            <a:off x="9146828" y="3184475"/>
            <a:ext cx="1793974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39B1B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@fee_type: tuition, hostel, exam</a:t>
            </a:r>
            <a:endParaRPr lang="en-US" sz="940" dirty="0"/>
          </a:p>
        </p:txBody>
      </p:sp>
      <p:pic>
        <p:nvPicPr>
          <p:cNvPr id="2097241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58013" y="3505944"/>
            <a:ext cx="2737693" cy="330994"/>
          </a:xfrm>
          <a:prstGeom prst="rect">
            <a:avLst/>
          </a:prstGeom>
        </p:spPr>
      </p:pic>
      <p:sp>
        <p:nvSpPr>
          <p:cNvPr id="1048715" name="Text 29"/>
          <p:cNvSpPr txBox="1"/>
          <p:nvPr/>
        </p:nvSpPr>
        <p:spPr>
          <a:xfrm>
            <a:off x="7072313" y="3591669"/>
            <a:ext cx="2509093" cy="169069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05"/>
              </a:lnSpc>
              <a:buNone/>
            </a:pPr>
            <a:r>
              <a:rPr lang="en-US" sz="940" dirty="0">
                <a:solidFill>
                  <a:srgbClr val="DDE3F0"/>
                </a:solidFill>
                <a:highlight>
                  <a:srgbClr val="39B1B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@query_type: eligibility, process, documents</a:t>
            </a:r>
            <a:endParaRPr lang="en-US" sz="940" dirty="0"/>
          </a:p>
        </p:txBody>
      </p:sp>
      <p:sp>
        <p:nvSpPr>
          <p:cNvPr id="1048716" name="Text 30"/>
          <p:cNvSpPr txBox="1"/>
          <p:nvPr/>
        </p:nvSpPr>
        <p:spPr>
          <a:xfrm>
            <a:off x="6958013" y="3989338"/>
            <a:ext cx="4405313" cy="971401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DDE3F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75" b="1" dirty="0">
                <a:solidFill>
                  <a:srgbClr val="DDE3F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approach:</a:t>
            </a:r>
            <a:r>
              <a:rPr lang="en-US" sz="975" dirty="0">
                <a:solidFill>
                  <a:srgbClr val="DDE3F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15-20 user examples per intent, Hindi + Hinglish + English variations, negative examples to avoid confusion.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DDE3F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75" b="1" dirty="0">
                <a:solidFill>
                  <a:srgbClr val="DDE3F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Dialog skill:</a:t>
            </a:r>
            <a:r>
              <a:rPr lang="en-US" sz="975" dirty="0">
                <a:solidFill>
                  <a:srgbClr val="DDE3F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Slot-filling — if department missing, bot asks "Kaunse department ki baat kar rahe ho?" 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2F"/>
        </a:solidFill>
        <a:effectLst/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ext 0"/>
          <p:cNvSpPr txBox="1"/>
          <p:nvPr/>
        </p:nvSpPr>
        <p:spPr>
          <a:xfrm>
            <a:off x="609600" y="1448544"/>
            <a:ext cx="7429500" cy="877788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Zero-cost to build, enterprise-grade to scale</a:t>
            </a:r>
            <a:endParaRPr lang="en-US" sz="3600" dirty="0"/>
          </a:p>
        </p:txBody>
      </p:sp>
      <p:pic>
        <p:nvPicPr>
          <p:cNvPr id="209724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4932"/>
            <a:ext cx="5006132" cy="2854523"/>
          </a:xfrm>
          <a:prstGeom prst="rect">
            <a:avLst/>
          </a:prstGeom>
        </p:spPr>
      </p:pic>
      <p:sp>
        <p:nvSpPr>
          <p:cNvPr id="1048721" name="Text 1"/>
          <p:cNvSpPr txBox="1"/>
          <p:nvPr/>
        </p:nvSpPr>
        <p:spPr>
          <a:xfrm>
            <a:off x="1067693" y="2783532"/>
            <a:ext cx="4309914" cy="176213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65"/>
              </a:lnSpc>
              <a:buNone/>
            </a:pPr>
            <a:r>
              <a:rPr lang="en-US" sz="975" kern="0" spc="156" dirty="0">
                <a:solidFill>
                  <a:srgbClr val="DEE3F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TRADITIONAL HELPDESK</a:t>
            </a:r>
            <a:endParaRPr lang="en-US" sz="975" dirty="0"/>
          </a:p>
        </p:txBody>
      </p:sp>
      <p:pic>
        <p:nvPicPr>
          <p:cNvPr id="209724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04964"/>
            <a:ext cx="143768" cy="123825"/>
          </a:xfrm>
          <a:prstGeom prst="rect">
            <a:avLst/>
          </a:prstGeom>
        </p:spPr>
      </p:pic>
      <p:pic>
        <p:nvPicPr>
          <p:cNvPr id="209724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112145"/>
            <a:ext cx="247650" cy="247650"/>
          </a:xfrm>
          <a:prstGeom prst="rect">
            <a:avLst/>
          </a:prstGeom>
        </p:spPr>
      </p:pic>
      <p:sp>
        <p:nvSpPr>
          <p:cNvPr id="1048722" name="Text 2"/>
          <p:cNvSpPr txBox="1"/>
          <p:nvPr/>
        </p:nvSpPr>
        <p:spPr>
          <a:xfrm>
            <a:off x="1190625" y="3121670"/>
            <a:ext cx="4186982" cy="183803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10am–4pm only, queues, phone not reachable during admissions</a:t>
            </a:r>
            <a:endParaRPr lang="en-US" sz="1050" dirty="0"/>
          </a:p>
        </p:txBody>
      </p:sp>
      <p:pic>
        <p:nvPicPr>
          <p:cNvPr id="209724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474095"/>
            <a:ext cx="247650" cy="247650"/>
          </a:xfrm>
          <a:prstGeom prst="rect">
            <a:avLst/>
          </a:prstGeom>
        </p:spPr>
      </p:pic>
      <p:sp>
        <p:nvSpPr>
          <p:cNvPr id="1048723" name="Text 3"/>
          <p:cNvSpPr txBox="1"/>
          <p:nvPr/>
        </p:nvSpPr>
        <p:spPr>
          <a:xfrm>
            <a:off x="1190625" y="3483620"/>
            <a:ext cx="4186982" cy="37713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answers same 200+ queries daily, no tracking, copy-paste errors</a:t>
            </a:r>
            <a:endParaRPr lang="en-US" sz="1050" dirty="0"/>
          </a:p>
        </p:txBody>
      </p:sp>
      <p:pic>
        <p:nvPicPr>
          <p:cNvPr id="209724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975050"/>
            <a:ext cx="247650" cy="247650"/>
          </a:xfrm>
          <a:prstGeom prst="rect">
            <a:avLst/>
          </a:prstGeom>
        </p:spPr>
      </p:pic>
      <p:sp>
        <p:nvSpPr>
          <p:cNvPr id="1048724" name="Text 4"/>
          <p:cNvSpPr txBox="1"/>
          <p:nvPr/>
        </p:nvSpPr>
        <p:spPr>
          <a:xfrm>
            <a:off x="1190625" y="3984575"/>
            <a:ext cx="4186982" cy="183803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separate team for website, WhatsApp, app — costly</a:t>
            </a:r>
            <a:endParaRPr lang="en-US" sz="1050" dirty="0"/>
          </a:p>
        </p:txBody>
      </p:sp>
      <p:pic>
        <p:nvPicPr>
          <p:cNvPr id="209724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032" y="1907232"/>
            <a:ext cx="6709470" cy="4149923"/>
          </a:xfrm>
          <a:prstGeom prst="rect">
            <a:avLst/>
          </a:prstGeom>
        </p:spPr>
      </p:pic>
      <p:sp>
        <p:nvSpPr>
          <p:cNvPr id="1048725" name="Text 5"/>
          <p:cNvSpPr txBox="1"/>
          <p:nvPr/>
        </p:nvSpPr>
        <p:spPr>
          <a:xfrm>
            <a:off x="6298853" y="2783532"/>
            <a:ext cx="5045273" cy="176213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65"/>
              </a:lnSpc>
              <a:buNone/>
            </a:pPr>
            <a:r>
              <a:rPr lang="en-US" sz="975" kern="0" spc="156" dirty="0">
                <a:solidFill>
                  <a:srgbClr val="36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WATSON COLLEGE BOT — BENEFITS</a:t>
            </a:r>
            <a:endParaRPr lang="en-US" sz="975" dirty="0"/>
          </a:p>
        </p:txBody>
      </p:sp>
      <p:pic>
        <p:nvPicPr>
          <p:cNvPr id="209724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3407" y="2804964"/>
            <a:ext cx="159246" cy="123825"/>
          </a:xfrm>
          <a:prstGeom prst="rect">
            <a:avLst/>
          </a:prstGeom>
        </p:spPr>
      </p:pic>
      <p:pic>
        <p:nvPicPr>
          <p:cNvPr id="209724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3407" y="3112145"/>
            <a:ext cx="247650" cy="247650"/>
          </a:xfrm>
          <a:prstGeom prst="rect">
            <a:avLst/>
          </a:prstGeom>
        </p:spPr>
      </p:pic>
      <p:sp>
        <p:nvSpPr>
          <p:cNvPr id="1048726" name="Text 6"/>
          <p:cNvSpPr txBox="1"/>
          <p:nvPr/>
        </p:nvSpPr>
        <p:spPr>
          <a:xfrm>
            <a:off x="6406307" y="3121670"/>
            <a:ext cx="4937820" cy="183803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₹0 with Lite plan</a:t>
            </a:r>
            <a:r>
              <a:rPr lang="en-US" sz="1050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Python coding needed, drag-drop dialog builder</a:t>
            </a:r>
            <a:endParaRPr lang="en-US" sz="1050" dirty="0"/>
          </a:p>
        </p:txBody>
      </p:sp>
      <p:pic>
        <p:nvPicPr>
          <p:cNvPr id="209725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3407" y="3474095"/>
            <a:ext cx="247650" cy="247650"/>
          </a:xfrm>
          <a:prstGeom prst="rect">
            <a:avLst/>
          </a:prstGeom>
        </p:spPr>
      </p:pic>
      <p:sp>
        <p:nvSpPr>
          <p:cNvPr id="1048727" name="Text 7"/>
          <p:cNvSpPr txBox="1"/>
          <p:nvPr/>
        </p:nvSpPr>
        <p:spPr>
          <a:xfrm>
            <a:off x="6406307" y="3483620"/>
            <a:ext cx="4937820" cy="183803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&amp; accurate 24x7</a:t>
            </a:r>
            <a:r>
              <a:rPr lang="en-US" sz="1050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&lt;2s reply, handles Hinglish: "CSE ka fees kitna hai?"</a:t>
            </a:r>
            <a:endParaRPr lang="en-US" sz="1050" dirty="0"/>
          </a:p>
        </p:txBody>
      </p:sp>
      <p:pic>
        <p:nvPicPr>
          <p:cNvPr id="209725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3407" y="3836045"/>
            <a:ext cx="247650" cy="247650"/>
          </a:xfrm>
          <a:prstGeom prst="rect">
            <a:avLst/>
          </a:prstGeom>
        </p:spPr>
      </p:pic>
      <p:sp>
        <p:nvSpPr>
          <p:cNvPr id="1048728" name="Text 8"/>
          <p:cNvSpPr txBox="1"/>
          <p:nvPr/>
        </p:nvSpPr>
        <p:spPr>
          <a:xfrm>
            <a:off x="6406307" y="3845570"/>
            <a:ext cx="4937820" cy="37713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everywhere</a:t>
            </a:r>
            <a:r>
              <a:rPr lang="en-US" sz="1050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same brain on website, WhatsApp, Facebook, mobile app</a:t>
            </a:r>
            <a:endParaRPr lang="en-US" sz="1050" dirty="0"/>
          </a:p>
        </p:txBody>
      </p:sp>
      <p:pic>
        <p:nvPicPr>
          <p:cNvPr id="209725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3407" y="4337000"/>
            <a:ext cx="247650" cy="247650"/>
          </a:xfrm>
          <a:prstGeom prst="rect">
            <a:avLst/>
          </a:prstGeom>
        </p:spPr>
      </p:pic>
      <p:sp>
        <p:nvSpPr>
          <p:cNvPr id="1048729" name="Text 9"/>
          <p:cNvSpPr txBox="1"/>
          <p:nvPr/>
        </p:nvSpPr>
        <p:spPr>
          <a:xfrm>
            <a:off x="6406307" y="4346525"/>
            <a:ext cx="4937820" cy="37713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dashboard</a:t>
            </a:r>
            <a:r>
              <a:rPr lang="en-US" sz="1050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see top queries, unanswered questions, improve bot weekly</a:t>
            </a:r>
            <a:endParaRPr lang="en-US" sz="1050" dirty="0"/>
          </a:p>
        </p:txBody>
      </p:sp>
      <p:pic>
        <p:nvPicPr>
          <p:cNvPr id="209725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3407" y="4933206"/>
            <a:ext cx="1389311" cy="257175"/>
          </a:xfrm>
          <a:prstGeom prst="rect">
            <a:avLst/>
          </a:prstGeom>
        </p:spPr>
      </p:pic>
      <p:sp>
        <p:nvSpPr>
          <p:cNvPr id="1048730" name="Text 10"/>
          <p:cNvSpPr txBox="1"/>
          <p:nvPr/>
        </p:nvSpPr>
        <p:spPr>
          <a:xfrm>
            <a:off x="6158657" y="4999881"/>
            <a:ext cx="1198811" cy="1333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125"/>
              </a:lnSpc>
              <a:buNone/>
            </a:pPr>
            <a:r>
              <a:rPr lang="en-US" sz="750" kern="0" spc="75" dirty="0">
                <a:solidFill>
                  <a:srgbClr val="36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CLOUD LITE FREE</a:t>
            </a:r>
            <a:endParaRPr lang="en-US" sz="750" dirty="0"/>
          </a:p>
        </p:txBody>
      </p:sp>
      <p:pic>
        <p:nvPicPr>
          <p:cNvPr id="209725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8917" y="4933206"/>
            <a:ext cx="1228725" cy="257175"/>
          </a:xfrm>
          <a:prstGeom prst="rect">
            <a:avLst/>
          </a:prstGeom>
        </p:spPr>
      </p:pic>
      <p:sp>
        <p:nvSpPr>
          <p:cNvPr id="1048731" name="Text 11"/>
          <p:cNvSpPr txBox="1"/>
          <p:nvPr/>
        </p:nvSpPr>
        <p:spPr>
          <a:xfrm>
            <a:off x="7624167" y="4999881"/>
            <a:ext cx="1038225" cy="1333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125"/>
              </a:lnSpc>
              <a:buNone/>
            </a:pPr>
            <a:r>
              <a:rPr lang="en-US" sz="750" kern="0" spc="75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HEAVY CODING</a:t>
            </a:r>
            <a:endParaRPr lang="en-US" sz="750" dirty="0"/>
          </a:p>
        </p:txBody>
      </p:sp>
      <p:pic>
        <p:nvPicPr>
          <p:cNvPr id="209725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3842" y="4933206"/>
            <a:ext cx="971401" cy="257175"/>
          </a:xfrm>
          <a:prstGeom prst="rect">
            <a:avLst/>
          </a:prstGeom>
        </p:spPr>
      </p:pic>
      <p:sp>
        <p:nvSpPr>
          <p:cNvPr id="1048732" name="Text 12"/>
          <p:cNvSpPr txBox="1"/>
          <p:nvPr/>
        </p:nvSpPr>
        <p:spPr>
          <a:xfrm>
            <a:off x="8929092" y="4999881"/>
            <a:ext cx="780901" cy="1333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125"/>
              </a:lnSpc>
              <a:buNone/>
            </a:pPr>
            <a:r>
              <a:rPr lang="en-US" sz="750" kern="0" spc="75" dirty="0">
                <a:solidFill>
                  <a:srgbClr val="DDE3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API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2F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5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50988"/>
            <a:ext cx="1357908" cy="290513"/>
          </a:xfrm>
          <a:prstGeom prst="rect">
            <a:avLst/>
          </a:prstGeom>
        </p:spPr>
      </p:pic>
      <p:sp>
        <p:nvSpPr>
          <p:cNvPr id="1048736" name="Text 0"/>
          <p:cNvSpPr txBox="1"/>
          <p:nvPr/>
        </p:nvSpPr>
        <p:spPr>
          <a:xfrm>
            <a:off x="923181" y="2027188"/>
            <a:ext cx="939552" cy="14763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240"/>
              </a:lnSpc>
              <a:spcAft>
                <a:spcPts val="1350"/>
              </a:spcAft>
              <a:buNone/>
            </a:pPr>
            <a:r>
              <a:rPr lang="en-US" sz="825" kern="0" spc="116" dirty="0">
                <a:solidFill>
                  <a:srgbClr val="36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NEXT VERSION</a:t>
            </a:r>
            <a:endParaRPr lang="en-US" sz="825" dirty="0"/>
          </a:p>
        </p:txBody>
      </p:sp>
      <p:pic>
        <p:nvPicPr>
          <p:cNvPr id="209725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043857"/>
            <a:ext cx="132606" cy="104775"/>
          </a:xfrm>
          <a:prstGeom prst="rect">
            <a:avLst/>
          </a:prstGeom>
        </p:spPr>
      </p:pic>
      <p:sp>
        <p:nvSpPr>
          <p:cNvPr id="1048737" name="Text 1"/>
          <p:cNvSpPr txBox="1"/>
          <p:nvPr/>
        </p:nvSpPr>
        <p:spPr>
          <a:xfrm>
            <a:off x="609600" y="2412950"/>
            <a:ext cx="4693890" cy="868561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kern="0" spc="-72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From chat widget to campus brain</a:t>
            </a:r>
            <a:endParaRPr lang="en-US" sz="3600" dirty="0"/>
          </a:p>
        </p:txBody>
      </p:sp>
      <p:sp>
        <p:nvSpPr>
          <p:cNvPr id="1048738" name="Text 2"/>
          <p:cNvSpPr txBox="1"/>
          <p:nvPr/>
        </p:nvSpPr>
        <p:spPr>
          <a:xfrm>
            <a:off x="609600" y="3452961"/>
            <a:ext cx="4000500" cy="689521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860"/>
              </a:lnSpc>
              <a:buNone/>
            </a:pPr>
            <a:r>
              <a:rPr lang="en-US" sz="1165" dirty="0">
                <a:solidFill>
                  <a:srgbClr val="DDE3E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bot answers FAQs. Future roadmap connects it to live college systems and voice channels for zero-friction help.</a:t>
            </a:r>
            <a:endParaRPr lang="en-US" sz="1165" dirty="0"/>
          </a:p>
        </p:txBody>
      </p:sp>
      <p:sp>
        <p:nvSpPr>
          <p:cNvPr id="1048739" name="Text 3"/>
          <p:cNvSpPr txBox="1"/>
          <p:nvPr/>
        </p:nvSpPr>
        <p:spPr>
          <a:xfrm>
            <a:off x="609600" y="4418707"/>
            <a:ext cx="641152" cy="333375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36B0B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5×</a:t>
            </a:r>
            <a:endParaRPr lang="en-US" sz="2100" dirty="0"/>
          </a:p>
        </p:txBody>
      </p:sp>
      <p:sp>
        <p:nvSpPr>
          <p:cNvPr id="1048740" name="Text 4"/>
          <p:cNvSpPr txBox="1"/>
          <p:nvPr/>
        </p:nvSpPr>
        <p:spPr>
          <a:xfrm>
            <a:off x="609600" y="4761607"/>
            <a:ext cx="641152" cy="14763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240"/>
              </a:lnSpc>
              <a:buNone/>
            </a:pPr>
            <a:r>
              <a:rPr lang="en-US" sz="825" kern="0" spc="66" dirty="0">
                <a:solidFill>
                  <a:srgbClr val="DDE3F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</a:t>
            </a:r>
            <a:endParaRPr lang="en-US" sz="825" dirty="0"/>
          </a:p>
        </p:txBody>
      </p:sp>
      <p:sp>
        <p:nvSpPr>
          <p:cNvPr id="1048741" name="Text 5"/>
          <p:cNvSpPr txBox="1"/>
          <p:nvPr/>
        </p:nvSpPr>
        <p:spPr>
          <a:xfrm>
            <a:off x="1441252" y="4418707"/>
            <a:ext cx="685949" cy="333375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7898D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Live</a:t>
            </a:r>
            <a:endParaRPr lang="en-US" sz="2100" dirty="0"/>
          </a:p>
        </p:txBody>
      </p:sp>
      <p:sp>
        <p:nvSpPr>
          <p:cNvPr id="1048742" name="Text 6"/>
          <p:cNvSpPr txBox="1"/>
          <p:nvPr/>
        </p:nvSpPr>
        <p:spPr>
          <a:xfrm>
            <a:off x="1441252" y="4761607"/>
            <a:ext cx="685949" cy="147638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240"/>
              </a:lnSpc>
              <a:buNone/>
            </a:pPr>
            <a:r>
              <a:rPr lang="en-US" sz="825" kern="0" spc="66" dirty="0">
                <a:solidFill>
                  <a:srgbClr val="DDE3F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LINKED</a:t>
            </a:r>
            <a:endParaRPr lang="en-US" sz="825" dirty="0"/>
          </a:p>
        </p:txBody>
      </p:sp>
      <p:pic>
        <p:nvPicPr>
          <p:cNvPr id="209725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290" y="1122462"/>
            <a:ext cx="5974110" cy="902643"/>
          </a:xfrm>
          <a:prstGeom prst="rect">
            <a:avLst/>
          </a:prstGeom>
        </p:spPr>
      </p:pic>
      <p:pic>
        <p:nvPicPr>
          <p:cNvPr id="209725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265" y="1284387"/>
            <a:ext cx="400050" cy="400050"/>
          </a:xfrm>
          <a:prstGeom prst="rect">
            <a:avLst/>
          </a:prstGeom>
        </p:spPr>
      </p:pic>
      <p:pic>
        <p:nvPicPr>
          <p:cNvPr id="209726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140" y="1408212"/>
            <a:ext cx="114300" cy="152400"/>
          </a:xfrm>
          <a:prstGeom prst="rect">
            <a:avLst/>
          </a:prstGeom>
        </p:spPr>
      </p:pic>
      <p:sp>
        <p:nvSpPr>
          <p:cNvPr id="1048743" name="Text 7"/>
          <p:cNvSpPr txBox="1"/>
          <p:nvPr/>
        </p:nvSpPr>
        <p:spPr>
          <a:xfrm>
            <a:off x="6322665" y="1284387"/>
            <a:ext cx="5078760" cy="17517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80"/>
              </a:lnSpc>
              <a:spcAft>
                <a:spcPts val="300"/>
              </a:spcAft>
              <a:buNone/>
            </a:pPr>
            <a:r>
              <a:rPr lang="en-US" sz="1200" b="1" kern="0" spc="-12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Voice assistant integration</a:t>
            </a:r>
            <a:endParaRPr lang="en-US" sz="1200" dirty="0"/>
          </a:p>
        </p:txBody>
      </p:sp>
      <p:sp>
        <p:nvSpPr>
          <p:cNvPr id="1048744" name="Text 8"/>
          <p:cNvSpPr txBox="1"/>
          <p:nvPr/>
        </p:nvSpPr>
        <p:spPr>
          <a:xfrm>
            <a:off x="6322665" y="1516707"/>
            <a:ext cx="5078760" cy="346472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Watson STT + TTS so students can speak queries in Hindi/English on website kiosk.</a:t>
            </a:r>
            <a:endParaRPr lang="en-US" sz="960" dirty="0"/>
          </a:p>
        </p:txBody>
      </p:sp>
      <p:pic>
        <p:nvPicPr>
          <p:cNvPr id="209726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8290" y="2139404"/>
            <a:ext cx="5974110" cy="723900"/>
          </a:xfrm>
          <a:prstGeom prst="rect">
            <a:avLst/>
          </a:prstGeom>
        </p:spPr>
      </p:pic>
      <p:pic>
        <p:nvPicPr>
          <p:cNvPr id="209726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9265" y="2301329"/>
            <a:ext cx="400050" cy="400050"/>
          </a:xfrm>
          <a:prstGeom prst="rect">
            <a:avLst/>
          </a:prstGeom>
        </p:spPr>
      </p:pic>
      <p:pic>
        <p:nvPicPr>
          <p:cNvPr id="209726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2615" y="2425154"/>
            <a:ext cx="133350" cy="152400"/>
          </a:xfrm>
          <a:prstGeom prst="rect">
            <a:avLst/>
          </a:prstGeom>
        </p:spPr>
      </p:pic>
      <p:sp>
        <p:nvSpPr>
          <p:cNvPr id="1048745" name="Text 9"/>
          <p:cNvSpPr txBox="1"/>
          <p:nvPr/>
        </p:nvSpPr>
        <p:spPr>
          <a:xfrm>
            <a:off x="6322665" y="2301329"/>
            <a:ext cx="5078760" cy="17517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80"/>
              </a:lnSpc>
              <a:spcAft>
                <a:spcPts val="300"/>
              </a:spcAft>
              <a:buNone/>
            </a:pPr>
            <a:r>
              <a:rPr lang="en-US" sz="1200" b="1" kern="0" spc="-12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Connect to College ERP &amp; Cloudant DB</a:t>
            </a:r>
            <a:endParaRPr lang="en-US" sz="1200" dirty="0"/>
          </a:p>
        </p:txBody>
      </p:sp>
      <p:sp>
        <p:nvSpPr>
          <p:cNvPr id="1048746" name="Text 10"/>
          <p:cNvSpPr txBox="1"/>
          <p:nvPr/>
        </p:nvSpPr>
        <p:spPr>
          <a:xfrm>
            <a:off x="6322665" y="2533650"/>
            <a:ext cx="5078760" cy="16371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 real-time timetable, fees due, results directly instead of static answers.</a:t>
            </a:r>
            <a:endParaRPr lang="en-US" sz="960" dirty="0"/>
          </a:p>
        </p:txBody>
      </p:sp>
      <p:pic>
        <p:nvPicPr>
          <p:cNvPr id="209726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8290" y="2977604"/>
            <a:ext cx="5974110" cy="723900"/>
          </a:xfrm>
          <a:prstGeom prst="rect">
            <a:avLst/>
          </a:prstGeom>
        </p:spPr>
      </p:pic>
      <p:pic>
        <p:nvPicPr>
          <p:cNvPr id="209726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9265" y="3139529"/>
            <a:ext cx="400050" cy="400050"/>
          </a:xfrm>
          <a:prstGeom prst="rect">
            <a:avLst/>
          </a:prstGeom>
        </p:spPr>
      </p:pic>
      <p:pic>
        <p:nvPicPr>
          <p:cNvPr id="2097266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4040" y="3263354"/>
            <a:ext cx="190500" cy="152400"/>
          </a:xfrm>
          <a:prstGeom prst="rect">
            <a:avLst/>
          </a:prstGeom>
        </p:spPr>
      </p:pic>
      <p:sp>
        <p:nvSpPr>
          <p:cNvPr id="1048747" name="Text 11"/>
          <p:cNvSpPr txBox="1"/>
          <p:nvPr/>
        </p:nvSpPr>
        <p:spPr>
          <a:xfrm>
            <a:off x="6322665" y="3139529"/>
            <a:ext cx="5078760" cy="17517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80"/>
              </a:lnSpc>
              <a:spcAft>
                <a:spcPts val="300"/>
              </a:spcAft>
              <a:buNone/>
            </a:pPr>
            <a:r>
              <a:rPr lang="en-US" sz="1200" b="1" kern="0" spc="-12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Full Hindi + Hinglish support</a:t>
            </a:r>
            <a:endParaRPr lang="en-US" sz="1200" dirty="0"/>
          </a:p>
        </p:txBody>
      </p:sp>
      <p:sp>
        <p:nvSpPr>
          <p:cNvPr id="1048748" name="Text 12"/>
          <p:cNvSpPr txBox="1"/>
          <p:nvPr/>
        </p:nvSpPr>
        <p:spPr>
          <a:xfrm>
            <a:off x="6322665" y="3371850"/>
            <a:ext cx="5078760" cy="16371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intents with Devanagari and transliteration for inclusive access.</a:t>
            </a:r>
            <a:endParaRPr lang="en-US" sz="960" dirty="0"/>
          </a:p>
        </p:txBody>
      </p:sp>
      <p:pic>
        <p:nvPicPr>
          <p:cNvPr id="2097267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8290" y="3815804"/>
            <a:ext cx="5974110" cy="902643"/>
          </a:xfrm>
          <a:prstGeom prst="rect">
            <a:avLst/>
          </a:prstGeom>
        </p:spPr>
      </p:pic>
      <p:pic>
        <p:nvPicPr>
          <p:cNvPr id="2097268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9265" y="3977729"/>
            <a:ext cx="400050" cy="400050"/>
          </a:xfrm>
          <a:prstGeom prst="rect">
            <a:avLst/>
          </a:prstGeom>
        </p:spPr>
      </p:pic>
      <p:sp>
        <p:nvSpPr>
          <p:cNvPr id="1048749" name="Text 13"/>
          <p:cNvSpPr txBox="1"/>
          <p:nvPr/>
        </p:nvSpPr>
        <p:spPr>
          <a:xfrm>
            <a:off x="5991225" y="4181475"/>
            <a:ext cx="0" cy="0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>
              <a:buNone/>
            </a:pPr>
            <a:endParaRPr lang="en-US" dirty="0"/>
          </a:p>
        </p:txBody>
      </p:sp>
      <p:sp>
        <p:nvSpPr>
          <p:cNvPr id="1048750" name="Text 14"/>
          <p:cNvSpPr txBox="1"/>
          <p:nvPr/>
        </p:nvSpPr>
        <p:spPr>
          <a:xfrm>
            <a:off x="6322665" y="3977729"/>
            <a:ext cx="5078760" cy="17517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80"/>
              </a:lnSpc>
              <a:spcAft>
                <a:spcPts val="300"/>
              </a:spcAft>
              <a:buNone/>
            </a:pPr>
            <a:r>
              <a:rPr lang="en-US" sz="1200" b="1" kern="0" spc="-12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AI document verification</a:t>
            </a:r>
            <a:endParaRPr lang="en-US" sz="1200" dirty="0"/>
          </a:p>
        </p:txBody>
      </p:sp>
      <p:sp>
        <p:nvSpPr>
          <p:cNvPr id="1048751" name="Text 15"/>
          <p:cNvSpPr txBox="1"/>
          <p:nvPr/>
        </p:nvSpPr>
        <p:spPr>
          <a:xfrm>
            <a:off x="6322665" y="4210050"/>
            <a:ext cx="5078760" cy="346472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marksheets, bot uses Watson Discovery to check eligibility before admission guidance.</a:t>
            </a:r>
            <a:endParaRPr lang="en-US" sz="960" dirty="0"/>
          </a:p>
        </p:txBody>
      </p:sp>
      <p:pic>
        <p:nvPicPr>
          <p:cNvPr id="2097269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8290" y="4832747"/>
            <a:ext cx="5974110" cy="902643"/>
          </a:xfrm>
          <a:prstGeom prst="rect">
            <a:avLst/>
          </a:prstGeom>
        </p:spPr>
      </p:pic>
      <p:pic>
        <p:nvPicPr>
          <p:cNvPr id="2097270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265" y="4994672"/>
            <a:ext cx="400050" cy="400050"/>
          </a:xfrm>
          <a:prstGeom prst="rect">
            <a:avLst/>
          </a:prstGeom>
        </p:spPr>
      </p:pic>
      <p:pic>
        <p:nvPicPr>
          <p:cNvPr id="2097271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22615" y="5118497"/>
            <a:ext cx="133350" cy="152400"/>
          </a:xfrm>
          <a:prstGeom prst="rect">
            <a:avLst/>
          </a:prstGeom>
        </p:spPr>
      </p:pic>
      <p:sp>
        <p:nvSpPr>
          <p:cNvPr id="1048752" name="Text 16"/>
          <p:cNvSpPr txBox="1"/>
          <p:nvPr/>
        </p:nvSpPr>
        <p:spPr>
          <a:xfrm>
            <a:off x="6322665" y="4994672"/>
            <a:ext cx="5078760" cy="175171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80"/>
              </a:lnSpc>
              <a:spcAft>
                <a:spcPts val="300"/>
              </a:spcAft>
              <a:buNone/>
            </a:pPr>
            <a:r>
              <a:rPr lang="en-US" sz="1200" b="1" kern="0" spc="-12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WhatsApp via Cloud Functions</a:t>
            </a:r>
            <a:endParaRPr lang="en-US" sz="1200" dirty="0"/>
          </a:p>
        </p:txBody>
      </p:sp>
      <p:sp>
        <p:nvSpPr>
          <p:cNvPr id="1048753" name="Text 17"/>
          <p:cNvSpPr txBox="1"/>
          <p:nvPr/>
        </p:nvSpPr>
        <p:spPr>
          <a:xfrm>
            <a:off x="6322665" y="5226993"/>
            <a:ext cx="5078760" cy="346472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same assistant on WhatsApp using IBM Cloud Functions webhook — no new training.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2F"/>
        </a:solidFill>
        <a:effectLst/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Text 0"/>
          <p:cNvSpPr txBox="1"/>
          <p:nvPr/>
        </p:nvSpPr>
        <p:spPr>
          <a:xfrm>
            <a:off x="2000250" y="1685479"/>
            <a:ext cx="8191351" cy="977205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ctr">
              <a:lnSpc>
                <a:spcPts val="4050"/>
              </a:lnSpc>
              <a:buNone/>
            </a:pPr>
            <a:r>
              <a:rPr lang="en-US" sz="4050" b="1" kern="0" spc="-81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Successfully built a cost-effective, scalable college helpdesk</a:t>
            </a:r>
            <a:endParaRPr lang="en-US" sz="4050" dirty="0"/>
          </a:p>
        </p:txBody>
      </p:sp>
      <p:pic>
        <p:nvPicPr>
          <p:cNvPr id="209727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100" y="2891284"/>
            <a:ext cx="685800" cy="28575"/>
          </a:xfrm>
          <a:prstGeom prst="rect">
            <a:avLst/>
          </a:prstGeom>
        </p:spPr>
      </p:pic>
      <p:pic>
        <p:nvPicPr>
          <p:cNvPr id="209727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3205609"/>
            <a:ext cx="2616101" cy="1147763"/>
          </a:xfrm>
          <a:prstGeom prst="rect">
            <a:avLst/>
          </a:prstGeom>
        </p:spPr>
      </p:pic>
      <p:sp>
        <p:nvSpPr>
          <p:cNvPr id="1048758" name="Text 1"/>
          <p:cNvSpPr txBox="1"/>
          <p:nvPr/>
        </p:nvSpPr>
        <p:spPr>
          <a:xfrm>
            <a:off x="2200275" y="3386584"/>
            <a:ext cx="2216051" cy="1714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kern="0" spc="-11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Easy to build, zero code</a:t>
            </a:r>
            <a:endParaRPr lang="en-US" sz="1125" dirty="0"/>
          </a:p>
        </p:txBody>
      </p:sp>
      <p:sp>
        <p:nvSpPr>
          <p:cNvPr id="1048759" name="Text 2"/>
          <p:cNvSpPr txBox="1"/>
          <p:nvPr/>
        </p:nvSpPr>
        <p:spPr>
          <a:xfrm>
            <a:off x="2200275" y="3624709"/>
            <a:ext cx="2216051" cy="547688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65"/>
              </a:lnSpc>
              <a:buNone/>
            </a:pPr>
            <a:r>
              <a:rPr lang="en-US" sz="975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Watson Assistant Lite, 30+ intents, drag-drop dialog — built in 2 days, no heavy Python.</a:t>
            </a:r>
            <a:endParaRPr lang="en-US" sz="975" dirty="0"/>
          </a:p>
        </p:txBody>
      </p:sp>
      <p:pic>
        <p:nvPicPr>
          <p:cNvPr id="209727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801" y="3205609"/>
            <a:ext cx="2616250" cy="1147763"/>
          </a:xfrm>
          <a:prstGeom prst="rect">
            <a:avLst/>
          </a:prstGeom>
        </p:spPr>
      </p:pic>
      <p:sp>
        <p:nvSpPr>
          <p:cNvPr id="1048760" name="Text 3"/>
          <p:cNvSpPr txBox="1"/>
          <p:nvPr/>
        </p:nvSpPr>
        <p:spPr>
          <a:xfrm>
            <a:off x="4987826" y="3386584"/>
            <a:ext cx="2216200" cy="1714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kern="0" spc="-11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24x7 student satisfaction</a:t>
            </a:r>
            <a:endParaRPr lang="en-US" sz="1125" dirty="0"/>
          </a:p>
        </p:txBody>
      </p:sp>
      <p:sp>
        <p:nvSpPr>
          <p:cNvPr id="1048761" name="Text 4"/>
          <p:cNvSpPr txBox="1"/>
          <p:nvPr/>
        </p:nvSpPr>
        <p:spPr>
          <a:xfrm>
            <a:off x="4987826" y="3624709"/>
            <a:ext cx="2216200" cy="547688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65"/>
              </a:lnSpc>
              <a:buNone/>
            </a:pPr>
            <a:r>
              <a:rPr lang="en-US" sz="975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&lt;2s answers for admission, fees, exams, placement. Available after college hours.</a:t>
            </a:r>
            <a:endParaRPr lang="en-US" sz="975" dirty="0"/>
          </a:p>
        </p:txBody>
      </p:sp>
      <p:pic>
        <p:nvPicPr>
          <p:cNvPr id="2097275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500" y="3205609"/>
            <a:ext cx="2616101" cy="1147763"/>
          </a:xfrm>
          <a:prstGeom prst="rect">
            <a:avLst/>
          </a:prstGeom>
        </p:spPr>
      </p:pic>
      <p:sp>
        <p:nvSpPr>
          <p:cNvPr id="1048762" name="Text 5"/>
          <p:cNvSpPr txBox="1"/>
          <p:nvPr/>
        </p:nvSpPr>
        <p:spPr>
          <a:xfrm>
            <a:off x="7775525" y="3386584"/>
            <a:ext cx="2216051" cy="17145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kern="0" spc="-11" dirty="0">
                <a:solidFill>
                  <a:srgbClr val="DDE3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Ready for production</a:t>
            </a:r>
            <a:endParaRPr lang="en-US" sz="1125" dirty="0"/>
          </a:p>
        </p:txBody>
      </p:sp>
      <p:sp>
        <p:nvSpPr>
          <p:cNvPr id="1048763" name="Text 6"/>
          <p:cNvSpPr txBox="1"/>
          <p:nvPr/>
        </p:nvSpPr>
        <p:spPr>
          <a:xfrm>
            <a:off x="7775525" y="3624709"/>
            <a:ext cx="2216051" cy="547688"/>
          </a:xfrm>
          <a:prstGeom prst="rect">
            <a:avLst/>
          </a:prstGeom>
        </p:spPr>
        <p:txBody>
          <a:bodyPr wrap="square" lIns="0" tIns="0" rIns="0" bIns="0" rtlCol="0" anchor="t"/>
          <a:p>
            <a:pPr marL="0" indent="0" algn="l">
              <a:lnSpc>
                <a:spcPts val="1465"/>
              </a:lnSpc>
              <a:buNone/>
            </a:pPr>
            <a:r>
              <a:rPr lang="en-US" sz="975" dirty="0">
                <a:solidFill>
                  <a:srgbClr val="DCE3F0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 script ready for college site, analytics to track queries, scalable to WhatsApp.</a:t>
            </a:r>
            <a:endParaRPr lang="en-US" sz="975" dirty="0"/>
          </a:p>
        </p:txBody>
      </p:sp>
      <p:sp>
        <p:nvSpPr>
          <p:cNvPr id="1048764" name="Text 7"/>
          <p:cNvSpPr txBox="1"/>
          <p:nvPr/>
        </p:nvSpPr>
        <p:spPr>
          <a:xfrm>
            <a:off x="3730526" y="4686746"/>
            <a:ext cx="4730948" cy="228600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ctr"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1350" kern="0" spc="162" dirty="0">
                <a:solidFill>
                  <a:srgbClr val="36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350" dirty="0"/>
          </a:p>
        </p:txBody>
      </p:sp>
      <p:sp>
        <p:nvSpPr>
          <p:cNvPr id="1048765" name="Text 8"/>
          <p:cNvSpPr txBox="1"/>
          <p:nvPr/>
        </p:nvSpPr>
        <p:spPr>
          <a:xfrm>
            <a:off x="3730526" y="4991546"/>
            <a:ext cx="4730948" cy="180975"/>
          </a:xfrm>
          <a:prstGeom prst="rect">
            <a:avLst/>
          </a:prstGeom>
        </p:spPr>
        <p:txBody>
          <a:bodyPr wrap="none" lIns="0" tIns="0" rIns="0" bIns="0" rtlCol="0" anchor="t"/>
          <a:p>
            <a:pPr marL="0" indent="0" algn="ctr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DDE3F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Watson College Helpdesk Chatbot — Project ready for live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https_gniot-sanskar_github_io_gniot-chatbot-demo_">
            <a:hlinkClick r:id="rId1" tooltip="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005" y="1047750"/>
            <a:ext cx="3402330" cy="24384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239135" y="4355465"/>
            <a:ext cx="5699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LINK : </a:t>
            </a:r>
            <a:r>
              <a:rPr lang="en-US" altLang="en-US">
                <a:hlinkClick r:id="rId1" tooltip="" action="ppaction://hlinkfile"/>
              </a:rPr>
              <a:t>https://gniot-sanskar.github.io/gniot-chatbot-demo/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6457</Words>
  <Application>WPS Presentation</Application>
  <PresentationFormat/>
  <Paragraphs>296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SimSun</vt:lpstr>
      <vt:lpstr>Wingdings</vt:lpstr>
      <vt:lpstr>Fraunces</vt:lpstr>
      <vt:lpstr>Segoe Print</vt:lpstr>
      <vt:lpstr>Fraunces</vt:lpstr>
      <vt:lpstr>Fraunces</vt:lpstr>
      <vt:lpstr>Inter</vt:lpstr>
      <vt:lpstr>Inter</vt:lpstr>
      <vt:lpstr>Inter</vt:lpstr>
      <vt:lpstr>Newsreader</vt:lpstr>
      <vt:lpstr>Newsreader</vt:lpstr>
      <vt:lpstr>Newsreader</vt:lpstr>
      <vt:lpstr>Source Serif 4</vt:lpstr>
      <vt:lpstr>Source Serif 4</vt:lpstr>
      <vt:lpstr>Source Serif 4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IBM-Watson-Powered-College-Helpdesk-Chatbot</dc:title>
  <dc:creator>PptxGenJS</dc:creator>
  <cp:lastModifiedBy>aekyu</cp:lastModifiedBy>
  <cp:revision>2</cp:revision>
  <dcterms:created xsi:type="dcterms:W3CDTF">2026-07-27T19:08:50Z</dcterms:created>
  <dcterms:modified xsi:type="dcterms:W3CDTF">2026-07-27T19:27:27Z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1cb5153b527e4cf19c92a0cb34ac8413_23</vt:lpwstr>
  </property>
  <property fmtid="{D5CDD505-2E9C-101B-9397-08002B2CF9AE}" pid="3" name="KSOProductBuildVer">
    <vt:lpwstr>1033-12.1.0.26880</vt:lpwstr>
  </property>
</Properties>
</file>